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8288000" cy="10287000"/>
  <p:notesSz cx="6858000" cy="9144000"/>
  <p:embeddedFontLst>
    <p:embeddedFont>
      <p:font typeface="Garet Bold" panose="020B0604020202020204" charset="0"/>
      <p:regular r:id="rId15"/>
    </p:embeddedFont>
    <p:embeddedFont>
      <p:font typeface="Open Sauce" panose="020B0604020202020204" charset="0"/>
      <p:regular r:id="rId16"/>
    </p:embeddedFont>
    <p:embeddedFont>
      <p:font typeface="Open Sauce Bold" panose="020B0604020202020204" charset="0"/>
      <p:regular r:id="rId17"/>
    </p:embeddedFont>
  </p:embeddedFontLst>
  <p:custDataLst>
    <p:tags r:id="rId1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69" d="100"/>
          <a:sy n="69" d="100"/>
        </p:scale>
        <p:origin x="834"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7.xml"/><Relationship Id="rId1" Type="http://schemas.openxmlformats.org/officeDocument/2006/relationships/tags" Target="../tags/tag2.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7.xml"/><Relationship Id="rId1" Type="http://schemas.openxmlformats.org/officeDocument/2006/relationships/tags" Target="../tags/tag4.xml"/><Relationship Id="rId5" Type="http://schemas.openxmlformats.org/officeDocument/2006/relationships/image" Target="../media/image6.jpeg"/><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7.xml"/><Relationship Id="rId1" Type="http://schemas.openxmlformats.org/officeDocument/2006/relationships/tags" Target="../tags/tag5.xml"/><Relationship Id="rId4" Type="http://schemas.openxmlformats.org/officeDocument/2006/relationships/image" Target="../media/image8.sv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7.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7.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7.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7.xml"/><Relationship Id="rId1" Type="http://schemas.openxmlformats.org/officeDocument/2006/relationships/tags" Target="../tags/tag11.xml"/><Relationship Id="rId4" Type="http://schemas.openxmlformats.org/officeDocument/2006/relationships/image" Target="../media/image12.sv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7.xml"/><Relationship Id="rId1" Type="http://schemas.openxmlformats.org/officeDocument/2006/relationships/tags" Target="../tags/tag12.xml"/><Relationship Id="rId4" Type="http://schemas.openxmlformats.org/officeDocument/2006/relationships/image" Target="../media/image12.sv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3.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7.xml"/><Relationship Id="rId1" Type="http://schemas.openxmlformats.org/officeDocument/2006/relationships/tags" Target="../tags/tag14.xml"/><Relationship Id="rId5" Type="http://schemas.openxmlformats.org/officeDocument/2006/relationships/image" Target="../media/image13.png"/><Relationship Id="rId4" Type="http://schemas.openxmlformats.org/officeDocument/2006/relationships/image" Target="../media/image5.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148113" y="6780996"/>
            <a:ext cx="987500" cy="0"/>
          </a:xfrm>
          <a:prstGeom prst="line">
            <a:avLst/>
          </a:prstGeom>
          <a:ln w="28575" cap="flat">
            <a:solidFill>
              <a:srgbClr val="4A44BD"/>
            </a:solidFill>
            <a:prstDash val="solid"/>
            <a:headEnd type="none" w="sm" len="sm"/>
            <a:tailEnd type="none" w="sm" len="sm"/>
          </a:ln>
        </p:spPr>
      </p:sp>
      <p:grpSp>
        <p:nvGrpSpPr>
          <p:cNvPr id="3" name="Group 3"/>
          <p:cNvGrpSpPr/>
          <p:nvPr/>
        </p:nvGrpSpPr>
        <p:grpSpPr>
          <a:xfrm>
            <a:off x="1148113" y="7681191"/>
            <a:ext cx="4047637" cy="722100"/>
            <a:chOff x="0" y="0"/>
            <a:chExt cx="5396850" cy="962801"/>
          </a:xfrm>
        </p:grpSpPr>
        <p:sp>
          <p:nvSpPr>
            <p:cNvPr id="4" name="TextBox 4"/>
            <p:cNvSpPr txBox="1"/>
            <p:nvPr/>
          </p:nvSpPr>
          <p:spPr>
            <a:xfrm>
              <a:off x="0" y="393629"/>
              <a:ext cx="5396850" cy="569172"/>
            </a:xfrm>
            <a:prstGeom prst="rect">
              <a:avLst/>
            </a:prstGeom>
          </p:spPr>
          <p:txBody>
            <a:bodyPr lIns="0" tIns="0" rIns="0" bIns="0" rtlCol="0" anchor="t">
              <a:spAutoFit/>
            </a:bodyPr>
            <a:lstStyle/>
            <a:p>
              <a:pPr marL="0" lvl="0" indent="0" algn="l">
                <a:lnSpc>
                  <a:spcPts val="3639"/>
                </a:lnSpc>
              </a:pPr>
              <a:r>
                <a:rPr lang="en-US" sz="2599" b="1">
                  <a:solidFill>
                    <a:srgbClr val="000000"/>
                  </a:solidFill>
                  <a:latin typeface="Open Sauce Bold"/>
                  <a:ea typeface="Open Sauce Bold"/>
                  <a:cs typeface="Open Sauce Bold"/>
                  <a:sym typeface="Open Sauce Bold"/>
                </a:rPr>
                <a:t>Saranya K P</a:t>
              </a:r>
            </a:p>
          </p:txBody>
        </p:sp>
        <p:sp>
          <p:nvSpPr>
            <p:cNvPr id="5" name="TextBox 5"/>
            <p:cNvSpPr txBox="1"/>
            <p:nvPr/>
          </p:nvSpPr>
          <p:spPr>
            <a:xfrm>
              <a:off x="0" y="-28575"/>
              <a:ext cx="5396850" cy="333375"/>
            </a:xfrm>
            <a:prstGeom prst="rect">
              <a:avLst/>
            </a:prstGeom>
          </p:spPr>
          <p:txBody>
            <a:bodyPr lIns="0" tIns="0" rIns="0" bIns="0" rtlCol="0" anchor="t">
              <a:spAutoFit/>
            </a:bodyPr>
            <a:lstStyle/>
            <a:p>
              <a:pPr marL="0" lvl="0" indent="0" algn="l">
                <a:lnSpc>
                  <a:spcPts val="2100"/>
                </a:lnSpc>
                <a:spcBef>
                  <a:spcPct val="0"/>
                </a:spcBef>
              </a:pPr>
              <a:r>
                <a:rPr lang="en-US" sz="1500" u="none" spc="75" dirty="0">
                  <a:solidFill>
                    <a:srgbClr val="000000"/>
                  </a:solidFill>
                  <a:latin typeface="Open Sauce"/>
                  <a:ea typeface="Open Sauce"/>
                  <a:cs typeface="Open Sauce"/>
                  <a:sym typeface="Open Sauce"/>
                </a:rPr>
                <a:t>PRESENTED BY</a:t>
              </a:r>
            </a:p>
          </p:txBody>
        </p:sp>
      </p:grpSp>
      <p:sp>
        <p:nvSpPr>
          <p:cNvPr id="6" name="Freeform 6"/>
          <p:cNvSpPr/>
          <p:nvPr/>
        </p:nvSpPr>
        <p:spPr>
          <a:xfrm>
            <a:off x="8913253" y="2963300"/>
            <a:ext cx="9374747" cy="12269388"/>
          </a:xfrm>
          <a:custGeom>
            <a:avLst/>
            <a:gdLst/>
            <a:ahLst/>
            <a:cxnLst/>
            <a:rect l="l" t="t" r="r" b="b"/>
            <a:pathLst>
              <a:path w="9374747" h="12269388">
                <a:moveTo>
                  <a:pt x="0" y="0"/>
                </a:moveTo>
                <a:lnTo>
                  <a:pt x="9374747" y="0"/>
                </a:lnTo>
                <a:lnTo>
                  <a:pt x="9374747" y="12269388"/>
                </a:lnTo>
                <a:lnTo>
                  <a:pt x="0" y="12269388"/>
                </a:lnTo>
                <a:lnTo>
                  <a:pt x="0" y="0"/>
                </a:lnTo>
                <a:close/>
              </a:path>
            </a:pathLst>
          </a:custGeom>
          <a:blipFill>
            <a:blip r:embed="rId3">
              <a:extLst>
                <a:ext uri="{96DAC541-7B7A-43D3-8B79-37D633B846F1}">
                  <asvg:svgBlip xmlns:asvg="http://schemas.microsoft.com/office/drawing/2016/SVG/main" r:embed="rId4"/>
                </a:ext>
              </a:extLst>
            </a:blip>
            <a:stretch>
              <a:fillRect r="-30877"/>
            </a:stretch>
          </a:blipFill>
        </p:spPr>
      </p:sp>
      <p:grpSp>
        <p:nvGrpSpPr>
          <p:cNvPr id="7" name="Group 7"/>
          <p:cNvGrpSpPr/>
          <p:nvPr/>
        </p:nvGrpSpPr>
        <p:grpSpPr>
          <a:xfrm>
            <a:off x="0" y="9274912"/>
            <a:ext cx="19548495" cy="1012088"/>
            <a:chOff x="0" y="0"/>
            <a:chExt cx="123214575" cy="6379210"/>
          </a:xfrm>
        </p:grpSpPr>
        <p:sp>
          <p:nvSpPr>
            <p:cNvPr id="8" name="Freeform 8"/>
            <p:cNvSpPr/>
            <p:nvPr/>
          </p:nvSpPr>
          <p:spPr>
            <a:xfrm>
              <a:off x="0" y="0"/>
              <a:ext cx="123214569" cy="6379210"/>
            </a:xfrm>
            <a:custGeom>
              <a:avLst/>
              <a:gdLst/>
              <a:ahLst/>
              <a:cxnLst/>
              <a:rect l="l" t="t" r="r" b="b"/>
              <a:pathLst>
                <a:path w="123214569" h="6379210">
                  <a:moveTo>
                    <a:pt x="116297348" y="0"/>
                  </a:moveTo>
                  <a:lnTo>
                    <a:pt x="14830961" y="0"/>
                  </a:lnTo>
                  <a:lnTo>
                    <a:pt x="7221293" y="7620"/>
                  </a:lnTo>
                  <a:lnTo>
                    <a:pt x="0" y="6379210"/>
                  </a:lnTo>
                  <a:lnTo>
                    <a:pt x="116568662" y="6379210"/>
                  </a:lnTo>
                  <a:lnTo>
                    <a:pt x="123214569" y="0"/>
                  </a:lnTo>
                  <a:close/>
                </a:path>
              </a:pathLst>
            </a:custGeom>
            <a:solidFill>
              <a:srgbClr val="4A44BD"/>
            </a:solidFill>
          </p:spPr>
        </p:sp>
      </p:grpSp>
      <p:sp>
        <p:nvSpPr>
          <p:cNvPr id="9" name="TextBox 9"/>
          <p:cNvSpPr txBox="1"/>
          <p:nvPr/>
        </p:nvSpPr>
        <p:spPr>
          <a:xfrm>
            <a:off x="1148113" y="1601898"/>
            <a:ext cx="12529531" cy="2430794"/>
          </a:xfrm>
          <a:prstGeom prst="rect">
            <a:avLst/>
          </a:prstGeom>
        </p:spPr>
        <p:txBody>
          <a:bodyPr lIns="0" tIns="0" rIns="0" bIns="0" rtlCol="0" anchor="t">
            <a:spAutoFit/>
          </a:bodyPr>
          <a:lstStyle/>
          <a:p>
            <a:pPr marL="0" lvl="0" indent="0" algn="l">
              <a:lnSpc>
                <a:spcPts val="9679"/>
              </a:lnSpc>
            </a:pPr>
            <a:r>
              <a:rPr lang="en-US" sz="6600" b="1" dirty="0" err="1">
                <a:solidFill>
                  <a:srgbClr val="4A44BD"/>
                </a:solidFill>
                <a:latin typeface="Garet Bold"/>
                <a:ea typeface="Garet Bold"/>
                <a:cs typeface="Garet Bold"/>
                <a:sym typeface="Garet Bold"/>
              </a:rPr>
              <a:t>Wavecon</a:t>
            </a:r>
            <a:r>
              <a:rPr lang="en-US" sz="6600" b="1" dirty="0">
                <a:solidFill>
                  <a:srgbClr val="4A44BD"/>
                </a:solidFill>
                <a:latin typeface="Garet Bold"/>
                <a:ea typeface="Garet Bold"/>
                <a:cs typeface="Garet Bold"/>
                <a:sym typeface="Garet Bold"/>
              </a:rPr>
              <a:t> Telecom – 5G Launch Impact Analysis</a:t>
            </a:r>
          </a:p>
        </p:txBody>
      </p:sp>
      <p:sp>
        <p:nvSpPr>
          <p:cNvPr id="10" name="TextBox 10"/>
          <p:cNvSpPr txBox="1"/>
          <p:nvPr/>
        </p:nvSpPr>
        <p:spPr>
          <a:xfrm>
            <a:off x="1148113" y="4251298"/>
            <a:ext cx="12529531" cy="405765"/>
          </a:xfrm>
          <a:prstGeom prst="rect">
            <a:avLst/>
          </a:prstGeom>
        </p:spPr>
        <p:txBody>
          <a:bodyPr lIns="0" tIns="0" rIns="0" bIns="0" rtlCol="0" anchor="t">
            <a:spAutoFit/>
          </a:bodyPr>
          <a:lstStyle/>
          <a:p>
            <a:pPr marL="0" lvl="0" indent="0" algn="l">
              <a:lnSpc>
                <a:spcPts val="3359"/>
              </a:lnSpc>
            </a:pPr>
            <a:r>
              <a:rPr lang="en-US" sz="2400">
                <a:solidFill>
                  <a:srgbClr val="000000"/>
                </a:solidFill>
                <a:latin typeface="Open Sauce"/>
                <a:ea typeface="Open Sauce"/>
                <a:cs typeface="Open Sauce"/>
                <a:sym typeface="Open Sauce"/>
              </a:rPr>
              <a:t>Tool Used: Power BI</a:t>
            </a: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92702" y="9268371"/>
            <a:ext cx="6486365" cy="1018629"/>
            <a:chOff x="0" y="0"/>
            <a:chExt cx="1708343" cy="268281"/>
          </a:xfrm>
        </p:grpSpPr>
        <p:sp>
          <p:nvSpPr>
            <p:cNvPr id="3" name="Freeform 3"/>
            <p:cNvSpPr/>
            <p:nvPr/>
          </p:nvSpPr>
          <p:spPr>
            <a:xfrm>
              <a:off x="0" y="0"/>
              <a:ext cx="1708343" cy="268281"/>
            </a:xfrm>
            <a:custGeom>
              <a:avLst/>
              <a:gdLst/>
              <a:ahLst/>
              <a:cxnLst/>
              <a:rect l="l" t="t" r="r" b="b"/>
              <a:pathLst>
                <a:path w="1708343" h="268281">
                  <a:moveTo>
                    <a:pt x="119357" y="0"/>
                  </a:moveTo>
                  <a:lnTo>
                    <a:pt x="1588986" y="0"/>
                  </a:lnTo>
                  <a:cubicBezTo>
                    <a:pt x="1654905" y="0"/>
                    <a:pt x="1708343" y="53438"/>
                    <a:pt x="1708343" y="119357"/>
                  </a:cubicBezTo>
                  <a:lnTo>
                    <a:pt x="1708343" y="148924"/>
                  </a:lnTo>
                  <a:cubicBezTo>
                    <a:pt x="1708343" y="180580"/>
                    <a:pt x="1695768" y="210938"/>
                    <a:pt x="1673384" y="233322"/>
                  </a:cubicBezTo>
                  <a:cubicBezTo>
                    <a:pt x="1651000" y="255706"/>
                    <a:pt x="1620642" y="268281"/>
                    <a:pt x="1588986" y="268281"/>
                  </a:cubicBezTo>
                  <a:lnTo>
                    <a:pt x="119357" y="268281"/>
                  </a:lnTo>
                  <a:cubicBezTo>
                    <a:pt x="53438" y="268281"/>
                    <a:pt x="0" y="214843"/>
                    <a:pt x="0" y="148924"/>
                  </a:cubicBezTo>
                  <a:lnTo>
                    <a:pt x="0" y="119357"/>
                  </a:lnTo>
                  <a:cubicBezTo>
                    <a:pt x="0" y="53438"/>
                    <a:pt x="53438" y="0"/>
                    <a:pt x="119357" y="0"/>
                  </a:cubicBezTo>
                  <a:close/>
                </a:path>
              </a:pathLst>
            </a:custGeom>
            <a:solidFill>
              <a:srgbClr val="C0E4F6"/>
            </a:solidFill>
          </p:spPr>
        </p:sp>
        <p:sp>
          <p:nvSpPr>
            <p:cNvPr id="4" name="TextBox 4"/>
            <p:cNvSpPr txBox="1"/>
            <p:nvPr/>
          </p:nvSpPr>
          <p:spPr>
            <a:xfrm>
              <a:off x="0" y="-28575"/>
              <a:ext cx="1708343" cy="296856"/>
            </a:xfrm>
            <a:prstGeom prst="rect">
              <a:avLst/>
            </a:prstGeom>
          </p:spPr>
          <p:txBody>
            <a:bodyPr lIns="50800" tIns="50800" rIns="50800" bIns="50800" rtlCol="0" anchor="ctr"/>
            <a:lstStyle/>
            <a:p>
              <a:pPr algn="ctr">
                <a:lnSpc>
                  <a:spcPts val="2100"/>
                </a:lnSpc>
              </a:pPr>
              <a:endParaRPr/>
            </a:p>
          </p:txBody>
        </p:sp>
      </p:grpSp>
      <p:grpSp>
        <p:nvGrpSpPr>
          <p:cNvPr id="5" name="Group 5"/>
          <p:cNvGrpSpPr/>
          <p:nvPr/>
        </p:nvGrpSpPr>
        <p:grpSpPr>
          <a:xfrm>
            <a:off x="3310361" y="9681230"/>
            <a:ext cx="15922153" cy="640680"/>
            <a:chOff x="0" y="0"/>
            <a:chExt cx="4193489" cy="168739"/>
          </a:xfrm>
        </p:grpSpPr>
        <p:sp>
          <p:nvSpPr>
            <p:cNvPr id="6" name="Freeform 6"/>
            <p:cNvSpPr/>
            <p:nvPr/>
          </p:nvSpPr>
          <p:spPr>
            <a:xfrm>
              <a:off x="0" y="0"/>
              <a:ext cx="4193489" cy="168739"/>
            </a:xfrm>
            <a:custGeom>
              <a:avLst/>
              <a:gdLst/>
              <a:ahLst/>
              <a:cxnLst/>
              <a:rect l="l" t="t" r="r" b="b"/>
              <a:pathLst>
                <a:path w="4193489" h="168739">
                  <a:moveTo>
                    <a:pt x="203200" y="0"/>
                  </a:moveTo>
                  <a:lnTo>
                    <a:pt x="4193489" y="0"/>
                  </a:lnTo>
                  <a:lnTo>
                    <a:pt x="3990289" y="168739"/>
                  </a:lnTo>
                  <a:lnTo>
                    <a:pt x="0" y="168739"/>
                  </a:lnTo>
                  <a:lnTo>
                    <a:pt x="203200" y="0"/>
                  </a:lnTo>
                  <a:close/>
                </a:path>
              </a:pathLst>
            </a:custGeom>
            <a:solidFill>
              <a:srgbClr val="4A44BD"/>
            </a:solidFill>
          </p:spPr>
        </p:sp>
        <p:sp>
          <p:nvSpPr>
            <p:cNvPr id="7" name="TextBox 7"/>
            <p:cNvSpPr txBox="1"/>
            <p:nvPr/>
          </p:nvSpPr>
          <p:spPr>
            <a:xfrm>
              <a:off x="101600" y="-28575"/>
              <a:ext cx="3990289" cy="197314"/>
            </a:xfrm>
            <a:prstGeom prst="rect">
              <a:avLst/>
            </a:prstGeom>
          </p:spPr>
          <p:txBody>
            <a:bodyPr lIns="50800" tIns="50800" rIns="50800" bIns="50800" rtlCol="0" anchor="ctr"/>
            <a:lstStyle/>
            <a:p>
              <a:pPr algn="ctr">
                <a:lnSpc>
                  <a:spcPts val="2100"/>
                </a:lnSpc>
              </a:pPr>
              <a:endParaRPr/>
            </a:p>
          </p:txBody>
        </p:sp>
      </p:grpSp>
      <p:sp>
        <p:nvSpPr>
          <p:cNvPr id="8" name="Freeform 8"/>
          <p:cNvSpPr/>
          <p:nvPr/>
        </p:nvSpPr>
        <p:spPr>
          <a:xfrm>
            <a:off x="12403757" y="2672690"/>
            <a:ext cx="4477897" cy="4474165"/>
          </a:xfrm>
          <a:custGeom>
            <a:avLst/>
            <a:gdLst/>
            <a:ahLst/>
            <a:cxnLst/>
            <a:rect l="l" t="t" r="r" b="b"/>
            <a:pathLst>
              <a:path w="4477897" h="4474165">
                <a:moveTo>
                  <a:pt x="0" y="0"/>
                </a:moveTo>
                <a:lnTo>
                  <a:pt x="4477897" y="0"/>
                </a:lnTo>
                <a:lnTo>
                  <a:pt x="4477897" y="4474165"/>
                </a:lnTo>
                <a:lnTo>
                  <a:pt x="0" y="4474165"/>
                </a:lnTo>
                <a:lnTo>
                  <a:pt x="0" y="0"/>
                </a:lnTo>
                <a:close/>
              </a:path>
            </a:pathLst>
          </a:custGeom>
          <a:blipFill>
            <a:blip r:embed="rId3"/>
            <a:stretch>
              <a:fillRect/>
            </a:stretch>
          </a:blipFill>
        </p:spPr>
      </p:sp>
      <p:grpSp>
        <p:nvGrpSpPr>
          <p:cNvPr id="9" name="Group 9"/>
          <p:cNvGrpSpPr/>
          <p:nvPr/>
        </p:nvGrpSpPr>
        <p:grpSpPr>
          <a:xfrm>
            <a:off x="1028700" y="2047859"/>
            <a:ext cx="10155385" cy="5754038"/>
            <a:chOff x="0" y="0"/>
            <a:chExt cx="13540514" cy="7672050"/>
          </a:xfrm>
        </p:grpSpPr>
        <p:sp>
          <p:nvSpPr>
            <p:cNvPr id="10" name="TextBox 10"/>
            <p:cNvSpPr txBox="1"/>
            <p:nvPr/>
          </p:nvSpPr>
          <p:spPr>
            <a:xfrm>
              <a:off x="0" y="1930079"/>
              <a:ext cx="13540514" cy="5741972"/>
            </a:xfrm>
            <a:prstGeom prst="rect">
              <a:avLst/>
            </a:prstGeom>
          </p:spPr>
          <p:txBody>
            <a:bodyPr lIns="0" tIns="0" rIns="0" bIns="0" rtlCol="0" anchor="t">
              <a:spAutoFit/>
            </a:bodyPr>
            <a:lstStyle/>
            <a:p>
              <a:pPr algn="l">
                <a:lnSpc>
                  <a:spcPts val="3565"/>
                </a:lnSpc>
              </a:pPr>
              <a:r>
                <a:rPr lang="en-US" sz="1756" dirty="0" err="1">
                  <a:solidFill>
                    <a:srgbClr val="000000"/>
                  </a:solidFill>
                  <a:latin typeface="Open Sauce"/>
                  <a:ea typeface="Open Sauce"/>
                  <a:cs typeface="Open Sauce"/>
                  <a:sym typeface="Open Sauce"/>
                </a:rPr>
                <a:t>Wavecon</a:t>
              </a:r>
              <a:r>
                <a:rPr lang="en-US" sz="1756" dirty="0">
                  <a:solidFill>
                    <a:srgbClr val="000000"/>
                  </a:solidFill>
                  <a:latin typeface="Open Sauce"/>
                  <a:ea typeface="Open Sauce"/>
                  <a:cs typeface="Open Sauce"/>
                  <a:sym typeface="Open Sauce"/>
                </a:rPr>
                <a:t> recently launched its 5G services with the expectation of driving higher customer adoption, increasing revenue, and strengthening its overall market position.</a:t>
              </a:r>
            </a:p>
            <a:p>
              <a:pPr algn="l">
                <a:lnSpc>
                  <a:spcPts val="3565"/>
                </a:lnSpc>
              </a:pPr>
              <a:r>
                <a:rPr lang="en-US" sz="1756" dirty="0">
                  <a:solidFill>
                    <a:srgbClr val="000000"/>
                  </a:solidFill>
                  <a:latin typeface="Open Sauce"/>
                  <a:ea typeface="Open Sauce"/>
                  <a:cs typeface="Open Sauce"/>
                  <a:sym typeface="Open Sauce"/>
                </a:rPr>
                <a:t> However, early performance indicators show mixed results — including a slight decline in revenue, a drop in active users, and a notable increase in customer churn.</a:t>
              </a:r>
            </a:p>
            <a:p>
              <a:pPr algn="l">
                <a:lnSpc>
                  <a:spcPts val="3565"/>
                </a:lnSpc>
              </a:pPr>
              <a:endParaRPr lang="en-US" sz="1756" dirty="0">
                <a:solidFill>
                  <a:srgbClr val="000000"/>
                </a:solidFill>
                <a:latin typeface="Open Sauce"/>
                <a:ea typeface="Open Sauce"/>
                <a:cs typeface="Open Sauce"/>
                <a:sym typeface="Open Sauce"/>
              </a:endParaRPr>
            </a:p>
            <a:p>
              <a:pPr algn="l">
                <a:lnSpc>
                  <a:spcPts val="3565"/>
                </a:lnSpc>
              </a:pPr>
              <a:r>
                <a:rPr lang="en-US" sz="1756" dirty="0">
                  <a:solidFill>
                    <a:srgbClr val="000000"/>
                  </a:solidFill>
                  <a:latin typeface="Open Sauce"/>
                  <a:ea typeface="Open Sauce"/>
                  <a:cs typeface="Open Sauce"/>
                  <a:sym typeface="Open Sauce"/>
                </a:rPr>
                <a:t>To accurately understand the impact of the 5G rollout, we conducted a detailed analysis of key business KPIs before and after the launch. This presentation provides a data-driven view of how 5G has influenced user behavior, revenue patterns, plan performance, and city-level adoption.</a:t>
              </a:r>
            </a:p>
            <a:p>
              <a:pPr algn="l">
                <a:lnSpc>
                  <a:spcPts val="2458"/>
                </a:lnSpc>
              </a:pPr>
              <a:endParaRPr lang="en-US" sz="1756" dirty="0">
                <a:solidFill>
                  <a:srgbClr val="000000"/>
                </a:solidFill>
                <a:latin typeface="Open Sauce"/>
                <a:ea typeface="Open Sauce"/>
                <a:cs typeface="Open Sauce"/>
                <a:sym typeface="Open Sauce"/>
              </a:endParaRPr>
            </a:p>
          </p:txBody>
        </p:sp>
        <p:sp>
          <p:nvSpPr>
            <p:cNvPr id="11" name="TextBox 11"/>
            <p:cNvSpPr txBox="1"/>
            <p:nvPr/>
          </p:nvSpPr>
          <p:spPr>
            <a:xfrm>
              <a:off x="0" y="-66675"/>
              <a:ext cx="13540514" cy="1551227"/>
            </a:xfrm>
            <a:prstGeom prst="rect">
              <a:avLst/>
            </a:prstGeom>
          </p:spPr>
          <p:txBody>
            <a:bodyPr lIns="0" tIns="0" rIns="0" bIns="0" rtlCol="0" anchor="t">
              <a:spAutoFit/>
            </a:bodyPr>
            <a:lstStyle/>
            <a:p>
              <a:pPr marL="0" lvl="0" indent="0" algn="l">
                <a:lnSpc>
                  <a:spcPts val="4780"/>
                </a:lnSpc>
              </a:pPr>
              <a:r>
                <a:rPr lang="en-US" sz="3414" b="1" spc="-68">
                  <a:solidFill>
                    <a:srgbClr val="4A44BD"/>
                  </a:solidFill>
                  <a:latin typeface="Garet Bold"/>
                  <a:ea typeface="Garet Bold"/>
                  <a:cs typeface="Garet Bold"/>
                  <a:sym typeface="Garet Bold"/>
                </a:rPr>
                <a:t>Understanding the Need for 5G Impact Analysis</a:t>
              </a:r>
            </a:p>
          </p:txBody>
        </p:sp>
      </p:gr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92702" y="9268371"/>
            <a:ext cx="6486365" cy="1018629"/>
            <a:chOff x="0" y="0"/>
            <a:chExt cx="1708343" cy="268281"/>
          </a:xfrm>
        </p:grpSpPr>
        <p:sp>
          <p:nvSpPr>
            <p:cNvPr id="3" name="Freeform 3"/>
            <p:cNvSpPr/>
            <p:nvPr/>
          </p:nvSpPr>
          <p:spPr>
            <a:xfrm>
              <a:off x="0" y="0"/>
              <a:ext cx="1708343" cy="268281"/>
            </a:xfrm>
            <a:custGeom>
              <a:avLst/>
              <a:gdLst/>
              <a:ahLst/>
              <a:cxnLst/>
              <a:rect l="l" t="t" r="r" b="b"/>
              <a:pathLst>
                <a:path w="1708343" h="268281">
                  <a:moveTo>
                    <a:pt x="119357" y="0"/>
                  </a:moveTo>
                  <a:lnTo>
                    <a:pt x="1588986" y="0"/>
                  </a:lnTo>
                  <a:cubicBezTo>
                    <a:pt x="1654905" y="0"/>
                    <a:pt x="1708343" y="53438"/>
                    <a:pt x="1708343" y="119357"/>
                  </a:cubicBezTo>
                  <a:lnTo>
                    <a:pt x="1708343" y="148924"/>
                  </a:lnTo>
                  <a:cubicBezTo>
                    <a:pt x="1708343" y="180580"/>
                    <a:pt x="1695768" y="210938"/>
                    <a:pt x="1673384" y="233322"/>
                  </a:cubicBezTo>
                  <a:cubicBezTo>
                    <a:pt x="1651000" y="255706"/>
                    <a:pt x="1620642" y="268281"/>
                    <a:pt x="1588986" y="268281"/>
                  </a:cubicBezTo>
                  <a:lnTo>
                    <a:pt x="119357" y="268281"/>
                  </a:lnTo>
                  <a:cubicBezTo>
                    <a:pt x="53438" y="268281"/>
                    <a:pt x="0" y="214843"/>
                    <a:pt x="0" y="148924"/>
                  </a:cubicBezTo>
                  <a:lnTo>
                    <a:pt x="0" y="119357"/>
                  </a:lnTo>
                  <a:cubicBezTo>
                    <a:pt x="0" y="53438"/>
                    <a:pt x="53438" y="0"/>
                    <a:pt x="119357" y="0"/>
                  </a:cubicBezTo>
                  <a:close/>
                </a:path>
              </a:pathLst>
            </a:custGeom>
            <a:solidFill>
              <a:srgbClr val="C0E4F6"/>
            </a:solidFill>
          </p:spPr>
        </p:sp>
        <p:sp>
          <p:nvSpPr>
            <p:cNvPr id="4" name="TextBox 4"/>
            <p:cNvSpPr txBox="1"/>
            <p:nvPr/>
          </p:nvSpPr>
          <p:spPr>
            <a:xfrm>
              <a:off x="0" y="-28575"/>
              <a:ext cx="1708343" cy="296856"/>
            </a:xfrm>
            <a:prstGeom prst="rect">
              <a:avLst/>
            </a:prstGeom>
          </p:spPr>
          <p:txBody>
            <a:bodyPr lIns="50800" tIns="50800" rIns="50800" bIns="50800" rtlCol="0" anchor="ctr"/>
            <a:lstStyle/>
            <a:p>
              <a:pPr algn="ctr">
                <a:lnSpc>
                  <a:spcPts val="2100"/>
                </a:lnSpc>
              </a:pPr>
              <a:endParaRPr/>
            </a:p>
          </p:txBody>
        </p:sp>
      </p:grpSp>
      <p:grpSp>
        <p:nvGrpSpPr>
          <p:cNvPr id="5" name="Group 5"/>
          <p:cNvGrpSpPr/>
          <p:nvPr/>
        </p:nvGrpSpPr>
        <p:grpSpPr>
          <a:xfrm>
            <a:off x="3310361" y="9681230"/>
            <a:ext cx="15903157" cy="640680"/>
            <a:chOff x="0" y="0"/>
            <a:chExt cx="4188486" cy="168739"/>
          </a:xfrm>
        </p:grpSpPr>
        <p:sp>
          <p:nvSpPr>
            <p:cNvPr id="6" name="Freeform 6"/>
            <p:cNvSpPr/>
            <p:nvPr/>
          </p:nvSpPr>
          <p:spPr>
            <a:xfrm>
              <a:off x="0" y="0"/>
              <a:ext cx="4188486" cy="168739"/>
            </a:xfrm>
            <a:custGeom>
              <a:avLst/>
              <a:gdLst/>
              <a:ahLst/>
              <a:cxnLst/>
              <a:rect l="l" t="t" r="r" b="b"/>
              <a:pathLst>
                <a:path w="4188486" h="168739">
                  <a:moveTo>
                    <a:pt x="203200" y="0"/>
                  </a:moveTo>
                  <a:lnTo>
                    <a:pt x="4188486" y="0"/>
                  </a:lnTo>
                  <a:lnTo>
                    <a:pt x="3985286" y="168739"/>
                  </a:lnTo>
                  <a:lnTo>
                    <a:pt x="0" y="168739"/>
                  </a:lnTo>
                  <a:lnTo>
                    <a:pt x="203200" y="0"/>
                  </a:lnTo>
                  <a:close/>
                </a:path>
              </a:pathLst>
            </a:custGeom>
            <a:solidFill>
              <a:srgbClr val="4A44BD"/>
            </a:solidFill>
          </p:spPr>
        </p:sp>
        <p:sp>
          <p:nvSpPr>
            <p:cNvPr id="7" name="TextBox 7"/>
            <p:cNvSpPr txBox="1"/>
            <p:nvPr/>
          </p:nvSpPr>
          <p:spPr>
            <a:xfrm>
              <a:off x="101600" y="-28575"/>
              <a:ext cx="3985286" cy="197314"/>
            </a:xfrm>
            <a:prstGeom prst="rect">
              <a:avLst/>
            </a:prstGeom>
          </p:spPr>
          <p:txBody>
            <a:bodyPr lIns="50800" tIns="50800" rIns="50800" bIns="50800" rtlCol="0" anchor="ctr"/>
            <a:lstStyle/>
            <a:p>
              <a:pPr algn="ctr">
                <a:lnSpc>
                  <a:spcPts val="2100"/>
                </a:lnSpc>
              </a:pPr>
              <a:endParaRPr/>
            </a:p>
          </p:txBody>
        </p:sp>
      </p:grpSp>
      <p:sp>
        <p:nvSpPr>
          <p:cNvPr id="8" name="Freeform 8"/>
          <p:cNvSpPr/>
          <p:nvPr/>
        </p:nvSpPr>
        <p:spPr>
          <a:xfrm rot="-10800000">
            <a:off x="15124683" y="0"/>
            <a:ext cx="6326633" cy="3163317"/>
          </a:xfrm>
          <a:custGeom>
            <a:avLst/>
            <a:gdLst/>
            <a:ahLst/>
            <a:cxnLst/>
            <a:rect l="l" t="t" r="r" b="b"/>
            <a:pathLst>
              <a:path w="6326633" h="3163317">
                <a:moveTo>
                  <a:pt x="0" y="0"/>
                </a:moveTo>
                <a:lnTo>
                  <a:pt x="6326634" y="0"/>
                </a:lnTo>
                <a:lnTo>
                  <a:pt x="6326634" y="3163317"/>
                </a:lnTo>
                <a:lnTo>
                  <a:pt x="0" y="316331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9" name="Group 9"/>
          <p:cNvGrpSpPr/>
          <p:nvPr/>
        </p:nvGrpSpPr>
        <p:grpSpPr>
          <a:xfrm>
            <a:off x="13503341" y="1028700"/>
            <a:ext cx="3755959" cy="7712950"/>
            <a:chOff x="0" y="0"/>
            <a:chExt cx="2847340" cy="5847080"/>
          </a:xfrm>
        </p:grpSpPr>
        <p:sp>
          <p:nvSpPr>
            <p:cNvPr id="10" name="Freeform 10"/>
            <p:cNvSpPr/>
            <p:nvPr/>
          </p:nvSpPr>
          <p:spPr>
            <a:xfrm>
              <a:off x="0" y="0"/>
              <a:ext cx="2847340" cy="5847080"/>
            </a:xfrm>
            <a:custGeom>
              <a:avLst/>
              <a:gdLst/>
              <a:ahLst/>
              <a:cxnLst/>
              <a:rect l="l" t="t" r="r" b="b"/>
              <a:pathLst>
                <a:path w="2847340" h="5847080">
                  <a:moveTo>
                    <a:pt x="2847340" y="5847080"/>
                  </a:moveTo>
                  <a:lnTo>
                    <a:pt x="0" y="5847080"/>
                  </a:lnTo>
                  <a:lnTo>
                    <a:pt x="0" y="0"/>
                  </a:lnTo>
                  <a:lnTo>
                    <a:pt x="1280160" y="0"/>
                  </a:lnTo>
                  <a:cubicBezTo>
                    <a:pt x="2146300" y="0"/>
                    <a:pt x="2847340" y="702310"/>
                    <a:pt x="2847340" y="1567180"/>
                  </a:cubicBezTo>
                  <a:lnTo>
                    <a:pt x="2847340" y="5847080"/>
                  </a:lnTo>
                  <a:close/>
                </a:path>
              </a:pathLst>
            </a:custGeom>
            <a:blipFill>
              <a:blip r:embed="rId5"/>
              <a:stretch>
                <a:fillRect l="-71442" t="-5842" r="-154785"/>
              </a:stretch>
            </a:blipFill>
          </p:spPr>
        </p:sp>
      </p:grpSp>
      <p:sp>
        <p:nvSpPr>
          <p:cNvPr id="11" name="TextBox 11"/>
          <p:cNvSpPr txBox="1"/>
          <p:nvPr/>
        </p:nvSpPr>
        <p:spPr>
          <a:xfrm>
            <a:off x="1028700" y="2269310"/>
            <a:ext cx="11448237" cy="409575"/>
          </a:xfrm>
          <a:prstGeom prst="rect">
            <a:avLst/>
          </a:prstGeom>
        </p:spPr>
        <p:txBody>
          <a:bodyPr lIns="0" tIns="0" rIns="0" bIns="0" rtlCol="0" anchor="t">
            <a:spAutoFit/>
          </a:bodyPr>
          <a:lstStyle/>
          <a:p>
            <a:pPr marL="0" lvl="0" indent="0" algn="l">
              <a:lnSpc>
                <a:spcPts val="3299"/>
              </a:lnSpc>
            </a:pPr>
            <a:r>
              <a:rPr lang="en-US" sz="2999" b="1" spc="-59">
                <a:solidFill>
                  <a:srgbClr val="4A44BD"/>
                </a:solidFill>
                <a:latin typeface="Garet Bold"/>
                <a:ea typeface="Garet Bold"/>
                <a:cs typeface="Garet Bold"/>
                <a:sym typeface="Garet Bold"/>
              </a:rPr>
              <a:t>Business Purpose of the Dashboard</a:t>
            </a:r>
          </a:p>
        </p:txBody>
      </p:sp>
      <p:sp>
        <p:nvSpPr>
          <p:cNvPr id="12" name="TextBox 12"/>
          <p:cNvSpPr txBox="1"/>
          <p:nvPr/>
        </p:nvSpPr>
        <p:spPr>
          <a:xfrm>
            <a:off x="1028700" y="3277723"/>
            <a:ext cx="10462556" cy="3081553"/>
          </a:xfrm>
          <a:prstGeom prst="rect">
            <a:avLst/>
          </a:prstGeom>
        </p:spPr>
        <p:txBody>
          <a:bodyPr lIns="0" tIns="0" rIns="0" bIns="0" rtlCol="0" anchor="t">
            <a:spAutoFit/>
          </a:bodyPr>
          <a:lstStyle/>
          <a:p>
            <a:pPr algn="l">
              <a:lnSpc>
                <a:spcPts val="3572"/>
              </a:lnSpc>
            </a:pPr>
            <a:r>
              <a:rPr lang="en-US" sz="1760" dirty="0">
                <a:solidFill>
                  <a:srgbClr val="000000"/>
                </a:solidFill>
                <a:latin typeface="Open Sauce"/>
                <a:ea typeface="Open Sauce"/>
                <a:cs typeface="Open Sauce"/>
                <a:sym typeface="Open Sauce"/>
              </a:rPr>
              <a:t>The goal of this dashboard is to present a clear and comprehensive view of the business impact following the 5G launch. It outlines how customer behavior, revenue performance, and city-level adoption have shifted after the rollout. The dashboard highlights the plans that are performing strongly as well as those that may require strategic attention. It also brings visibility to early indicators of churn and emerging competitive pressures. Overall, the dashboard serves as a decision-support tool, enabling a clearer understanding of post-5G performance and areas where improvement or strategic adjustments may be necessary.</a:t>
            </a:r>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832205" y="-3669476"/>
            <a:ext cx="11404376" cy="6815158"/>
            <a:chOff x="0" y="0"/>
            <a:chExt cx="1020095" cy="609600"/>
          </a:xfrm>
        </p:grpSpPr>
        <p:sp>
          <p:nvSpPr>
            <p:cNvPr id="3" name="Freeform 3"/>
            <p:cNvSpPr/>
            <p:nvPr/>
          </p:nvSpPr>
          <p:spPr>
            <a:xfrm>
              <a:off x="0" y="0"/>
              <a:ext cx="1020095" cy="609600"/>
            </a:xfrm>
            <a:custGeom>
              <a:avLst/>
              <a:gdLst/>
              <a:ahLst/>
              <a:cxnLst/>
              <a:rect l="l" t="t" r="r" b="b"/>
              <a:pathLst>
                <a:path w="1020095" h="609600">
                  <a:moveTo>
                    <a:pt x="816895" y="0"/>
                  </a:moveTo>
                  <a:lnTo>
                    <a:pt x="0" y="0"/>
                  </a:lnTo>
                  <a:lnTo>
                    <a:pt x="203200" y="609600"/>
                  </a:lnTo>
                  <a:lnTo>
                    <a:pt x="1020095" y="609600"/>
                  </a:lnTo>
                  <a:lnTo>
                    <a:pt x="816895" y="0"/>
                  </a:lnTo>
                  <a:close/>
                </a:path>
              </a:pathLst>
            </a:custGeom>
            <a:solidFill>
              <a:srgbClr val="C0E4F6"/>
            </a:solidFill>
          </p:spPr>
        </p:sp>
        <p:sp>
          <p:nvSpPr>
            <p:cNvPr id="4" name="TextBox 4"/>
            <p:cNvSpPr txBox="1"/>
            <p:nvPr/>
          </p:nvSpPr>
          <p:spPr>
            <a:xfrm>
              <a:off x="101600" y="-28575"/>
              <a:ext cx="816895" cy="638175"/>
            </a:xfrm>
            <a:prstGeom prst="rect">
              <a:avLst/>
            </a:prstGeom>
          </p:spPr>
          <p:txBody>
            <a:bodyPr lIns="50800" tIns="50800" rIns="50800" bIns="50800" rtlCol="0" anchor="ctr"/>
            <a:lstStyle/>
            <a:p>
              <a:pPr algn="ctr">
                <a:lnSpc>
                  <a:spcPts val="2100"/>
                </a:lnSpc>
              </a:pPr>
              <a:endParaRPr/>
            </a:p>
          </p:txBody>
        </p:sp>
      </p:grpSp>
      <p:sp>
        <p:nvSpPr>
          <p:cNvPr id="5" name="Freeform 5"/>
          <p:cNvSpPr/>
          <p:nvPr/>
        </p:nvSpPr>
        <p:spPr>
          <a:xfrm>
            <a:off x="-3163317" y="7123683"/>
            <a:ext cx="6326633" cy="3163317"/>
          </a:xfrm>
          <a:custGeom>
            <a:avLst/>
            <a:gdLst/>
            <a:ahLst/>
            <a:cxnLst/>
            <a:rect l="l" t="t" r="r" b="b"/>
            <a:pathLst>
              <a:path w="6326633" h="3163317">
                <a:moveTo>
                  <a:pt x="0" y="0"/>
                </a:moveTo>
                <a:lnTo>
                  <a:pt x="6326634" y="0"/>
                </a:lnTo>
                <a:lnTo>
                  <a:pt x="6326634" y="3163317"/>
                </a:lnTo>
                <a:lnTo>
                  <a:pt x="0" y="316331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TextBox 6"/>
          <p:cNvSpPr txBox="1"/>
          <p:nvPr/>
        </p:nvSpPr>
        <p:spPr>
          <a:xfrm>
            <a:off x="2057400" y="1028700"/>
            <a:ext cx="6392833" cy="857250"/>
          </a:xfrm>
          <a:prstGeom prst="rect">
            <a:avLst/>
          </a:prstGeom>
        </p:spPr>
        <p:txBody>
          <a:bodyPr lIns="0" tIns="0" rIns="0" bIns="0" rtlCol="0" anchor="t">
            <a:spAutoFit/>
          </a:bodyPr>
          <a:lstStyle/>
          <a:p>
            <a:pPr marL="0" lvl="0" indent="0" algn="l">
              <a:lnSpc>
                <a:spcPts val="6600"/>
              </a:lnSpc>
            </a:pPr>
            <a:r>
              <a:rPr lang="en-US" sz="6000" b="1" spc="-120" dirty="0">
                <a:solidFill>
                  <a:srgbClr val="4A44BD"/>
                </a:solidFill>
                <a:latin typeface="Garet Bold"/>
                <a:ea typeface="Garet Bold"/>
                <a:cs typeface="Garet Bold"/>
                <a:sym typeface="Garet Bold"/>
              </a:rPr>
              <a:t>Agenda</a:t>
            </a:r>
          </a:p>
        </p:txBody>
      </p:sp>
      <p:sp>
        <p:nvSpPr>
          <p:cNvPr id="9" name="TextBox 8">
            <a:extLst>
              <a:ext uri="{FF2B5EF4-FFF2-40B4-BE49-F238E27FC236}">
                <a16:creationId xmlns:a16="http://schemas.microsoft.com/office/drawing/2014/main" id="{99CE48A9-DDDE-ADAD-270F-E738A990E28C}"/>
              </a:ext>
            </a:extLst>
          </p:cNvPr>
          <p:cNvSpPr txBox="1"/>
          <p:nvPr/>
        </p:nvSpPr>
        <p:spPr>
          <a:xfrm>
            <a:off x="3545288" y="2552700"/>
            <a:ext cx="13235390" cy="10618291"/>
          </a:xfrm>
          <a:prstGeom prst="rect">
            <a:avLst/>
          </a:prstGeom>
          <a:noFill/>
        </p:spPr>
        <p:txBody>
          <a:bodyPr wrap="square" rtlCol="0">
            <a:spAutoFit/>
          </a:bodyPr>
          <a:lstStyle/>
          <a:p>
            <a:pPr marL="342900" indent="-342900" fontAlgn="ctr">
              <a:lnSpc>
                <a:spcPct val="200000"/>
              </a:lnSpc>
              <a:buFont typeface="Arial" panose="020B0604020202020204" pitchFamily="34" charset="0"/>
              <a:buChar char="•"/>
            </a:pPr>
            <a:r>
              <a:rPr lang="en-US" sz="2400" dirty="0">
                <a:latin typeface="Open Sauce" panose="020B0604020202020204" charset="0"/>
              </a:rPr>
              <a:t>Assess the revenue impact of the 5G launch</a:t>
            </a:r>
          </a:p>
          <a:p>
            <a:pPr marL="342900" indent="-342900" fontAlgn="ctr">
              <a:lnSpc>
                <a:spcPct val="200000"/>
              </a:lnSpc>
              <a:buFont typeface="Arial" panose="020B0604020202020204" pitchFamily="34" charset="0"/>
              <a:buChar char="•"/>
            </a:pPr>
            <a:r>
              <a:rPr lang="en-US" sz="2400" dirty="0">
                <a:solidFill>
                  <a:srgbClr val="000000"/>
                </a:solidFill>
                <a:latin typeface="Open Sauce" panose="020B0604020202020204" charset="0"/>
                <a:ea typeface="Open Sauce"/>
                <a:cs typeface="Open Sauce"/>
                <a:sym typeface="Open Sauce"/>
              </a:rPr>
              <a:t>Identify KPIs that show decline or underperformance post-5G</a:t>
            </a:r>
          </a:p>
          <a:p>
            <a:pPr marL="342900" indent="-342900" fontAlgn="ctr">
              <a:lnSpc>
                <a:spcPct val="200000"/>
              </a:lnSpc>
              <a:buFont typeface="Arial" panose="020B0604020202020204" pitchFamily="34" charset="0"/>
              <a:buChar char="•"/>
            </a:pPr>
            <a:r>
              <a:rPr lang="en-US" sz="2400" dirty="0">
                <a:solidFill>
                  <a:srgbClr val="000000"/>
                </a:solidFill>
                <a:latin typeface="Open Sauce" panose="020B0604020202020204" charset="0"/>
                <a:ea typeface="Open Sauce"/>
                <a:cs typeface="Open Sauce"/>
                <a:sym typeface="Open Sauce"/>
              </a:rPr>
              <a:t>Review plan-wise performance to highlight strong and weak contributors</a:t>
            </a:r>
            <a:endParaRPr lang="en-US" sz="2400" dirty="0">
              <a:latin typeface="Open Sauce" panose="020B0604020202020204" charset="0"/>
            </a:endParaRPr>
          </a:p>
          <a:p>
            <a:pPr marL="342900" indent="-342900" fontAlgn="ctr">
              <a:lnSpc>
                <a:spcPct val="200000"/>
              </a:lnSpc>
              <a:buFont typeface="Arial" panose="020B0604020202020204" pitchFamily="34" charset="0"/>
              <a:buChar char="•"/>
            </a:pPr>
            <a:r>
              <a:rPr lang="en-US" sz="2400" dirty="0">
                <a:solidFill>
                  <a:srgbClr val="000000"/>
                </a:solidFill>
                <a:latin typeface="Open Sauce" panose="020B0604020202020204" charset="0"/>
                <a:ea typeface="Open Sauce"/>
                <a:cs typeface="Open Sauce"/>
                <a:sym typeface="Open Sauce"/>
              </a:rPr>
              <a:t>Evaluate plans significantly affected by the 5G rollout and determine continuation or discontinuation needs</a:t>
            </a:r>
          </a:p>
          <a:p>
            <a:pPr marL="342900" indent="-342900" fontAlgn="ctr">
              <a:lnSpc>
                <a:spcPct val="200000"/>
              </a:lnSpc>
              <a:buFont typeface="Arial" panose="020B0604020202020204" pitchFamily="34" charset="0"/>
              <a:buChar char="•"/>
            </a:pPr>
            <a:r>
              <a:rPr lang="en-US" sz="2400" dirty="0">
                <a:solidFill>
                  <a:srgbClr val="000000"/>
                </a:solidFill>
                <a:latin typeface="Open Sauce" panose="020B0604020202020204" charset="0"/>
                <a:ea typeface="Open Sauce"/>
                <a:cs typeface="Open Sauce"/>
                <a:sym typeface="Open Sauce"/>
              </a:rPr>
              <a:t>Analyze discontinued plans and understand the factors behind their phase-out</a:t>
            </a:r>
          </a:p>
          <a:p>
            <a:pPr marL="342900" indent="-342900" fontAlgn="ctr">
              <a:lnSpc>
                <a:spcPct val="200000"/>
              </a:lnSpc>
              <a:buFont typeface="Arial" panose="020B0604020202020204" pitchFamily="34" charset="0"/>
              <a:buChar char="•"/>
            </a:pPr>
            <a:r>
              <a:rPr lang="en-US" sz="2400" dirty="0">
                <a:latin typeface="Open Sauce" panose="020B0604020202020204" charset="0"/>
                <a:ea typeface="Garet Bold"/>
                <a:cs typeface="Garet Bold"/>
                <a:sym typeface="Garet Bold"/>
              </a:rPr>
              <a:t>Insights Summary</a:t>
            </a:r>
          </a:p>
          <a:p>
            <a:pPr marL="342900" indent="-342900" fontAlgn="ctr">
              <a:lnSpc>
                <a:spcPct val="200000"/>
              </a:lnSpc>
              <a:buFont typeface="Arial" panose="020B0604020202020204" pitchFamily="34" charset="0"/>
              <a:buChar char="•"/>
            </a:pPr>
            <a:r>
              <a:rPr lang="en-US" sz="2400" dirty="0">
                <a:latin typeface="Open Sauce" panose="020B0604020202020204" charset="0"/>
                <a:ea typeface="Garet Bold"/>
                <a:cs typeface="Garet Bold"/>
                <a:sym typeface="Garet Bold"/>
              </a:rPr>
              <a:t>How This Analysis Enables Strategic Improvement</a:t>
            </a:r>
          </a:p>
          <a:p>
            <a:pPr marL="342900" indent="-342900" fontAlgn="ctr">
              <a:lnSpc>
                <a:spcPct val="200000"/>
              </a:lnSpc>
              <a:buFont typeface="Arial" panose="020B0604020202020204" pitchFamily="34" charset="0"/>
              <a:buChar char="•"/>
            </a:pPr>
            <a:r>
              <a:rPr lang="en-US" sz="2400" spc="-120" dirty="0">
                <a:latin typeface="Open Sauce" panose="020B0604020202020204" charset="0"/>
                <a:ea typeface="Garet Bold"/>
                <a:cs typeface="Garet Bold"/>
                <a:sym typeface="Garet Bold"/>
              </a:rPr>
              <a:t>Recommendations</a:t>
            </a:r>
          </a:p>
          <a:p>
            <a:pPr marL="342900" indent="-342900" fontAlgn="ctr">
              <a:lnSpc>
                <a:spcPct val="150000"/>
              </a:lnSpc>
              <a:buFont typeface="Arial" panose="020B0604020202020204" pitchFamily="34" charset="0"/>
              <a:buChar char="•"/>
            </a:pPr>
            <a:endParaRPr lang="en-US" sz="2400" b="1" dirty="0">
              <a:solidFill>
                <a:srgbClr val="4A44BD"/>
              </a:solidFill>
              <a:latin typeface="Garet Bold"/>
              <a:ea typeface="Garet Bold"/>
              <a:cs typeface="Garet Bold"/>
              <a:sym typeface="Garet Bold"/>
            </a:endParaRPr>
          </a:p>
          <a:p>
            <a:pPr marL="342900" indent="-342900" fontAlgn="ctr">
              <a:lnSpc>
                <a:spcPct val="150000"/>
              </a:lnSpc>
              <a:buFont typeface="Arial" panose="020B0604020202020204" pitchFamily="34" charset="0"/>
              <a:buChar char="•"/>
            </a:pPr>
            <a:endParaRPr lang="en-US" sz="2400" b="1" dirty="0">
              <a:solidFill>
                <a:srgbClr val="4A44BD"/>
              </a:solidFill>
              <a:latin typeface="Garet Bold"/>
              <a:ea typeface="Garet Bold"/>
              <a:cs typeface="Garet Bold"/>
              <a:sym typeface="Garet Bold"/>
            </a:endParaRPr>
          </a:p>
          <a:p>
            <a:pPr marL="342900" indent="-342900" fontAlgn="ctr">
              <a:lnSpc>
                <a:spcPct val="150000"/>
              </a:lnSpc>
              <a:buFont typeface="Arial" panose="020B0604020202020204" pitchFamily="34" charset="0"/>
              <a:buChar char="•"/>
            </a:pPr>
            <a:endParaRPr lang="en-US" sz="2400" dirty="0">
              <a:solidFill>
                <a:srgbClr val="000000"/>
              </a:solidFill>
              <a:latin typeface="Open Sauce" panose="020B0604020202020204" charset="0"/>
              <a:ea typeface="Open Sauce"/>
              <a:cs typeface="Open Sauce"/>
              <a:sym typeface="Open Sauce"/>
            </a:endParaRPr>
          </a:p>
          <a:p>
            <a:pPr marL="342900" indent="-342900" fontAlgn="ctr">
              <a:lnSpc>
                <a:spcPct val="150000"/>
              </a:lnSpc>
              <a:buFont typeface="Arial" panose="020B0604020202020204" pitchFamily="34" charset="0"/>
              <a:buChar char="•"/>
            </a:pPr>
            <a:endParaRPr lang="en-US" sz="2400" dirty="0">
              <a:solidFill>
                <a:srgbClr val="000000"/>
              </a:solidFill>
              <a:latin typeface="Open Sauce" panose="020B0604020202020204" charset="0"/>
              <a:ea typeface="Open Sauce"/>
              <a:cs typeface="Open Sauce"/>
              <a:sym typeface="Open Sauce"/>
            </a:endParaRPr>
          </a:p>
          <a:p>
            <a:pPr fontAlgn="ctr">
              <a:lnSpc>
                <a:spcPct val="150000"/>
              </a:lnSpc>
            </a:pPr>
            <a:endParaRPr lang="en-US" sz="2400" dirty="0">
              <a:latin typeface="Open Sauce" panose="020B0604020202020204" charset="0"/>
            </a:endParaRPr>
          </a:p>
          <a:p>
            <a:pPr fontAlgn="ctr">
              <a:lnSpc>
                <a:spcPct val="150000"/>
              </a:lnSpc>
            </a:pPr>
            <a:endParaRPr lang="en-US" sz="2400" dirty="0">
              <a:latin typeface="Open Sauce" panose="020B0604020202020204" charset="0"/>
            </a:endParaRPr>
          </a:p>
          <a:p>
            <a:pPr fontAlgn="ctr">
              <a:lnSpc>
                <a:spcPct val="150000"/>
              </a:lnSpc>
            </a:pPr>
            <a:endParaRPr lang="en-IN" sz="2400" dirty="0">
              <a:latin typeface="Open Sauce" panose="020B0604020202020204" charset="0"/>
            </a:endParaRPr>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92702" y="9268371"/>
            <a:ext cx="6486365" cy="1018629"/>
            <a:chOff x="0" y="0"/>
            <a:chExt cx="1708343" cy="268281"/>
          </a:xfrm>
        </p:grpSpPr>
        <p:sp>
          <p:nvSpPr>
            <p:cNvPr id="3" name="Freeform 3"/>
            <p:cNvSpPr/>
            <p:nvPr/>
          </p:nvSpPr>
          <p:spPr>
            <a:xfrm>
              <a:off x="0" y="0"/>
              <a:ext cx="1708343" cy="268281"/>
            </a:xfrm>
            <a:custGeom>
              <a:avLst/>
              <a:gdLst/>
              <a:ahLst/>
              <a:cxnLst/>
              <a:rect l="l" t="t" r="r" b="b"/>
              <a:pathLst>
                <a:path w="1708343" h="268281">
                  <a:moveTo>
                    <a:pt x="119357" y="0"/>
                  </a:moveTo>
                  <a:lnTo>
                    <a:pt x="1588986" y="0"/>
                  </a:lnTo>
                  <a:cubicBezTo>
                    <a:pt x="1654905" y="0"/>
                    <a:pt x="1708343" y="53438"/>
                    <a:pt x="1708343" y="119357"/>
                  </a:cubicBezTo>
                  <a:lnTo>
                    <a:pt x="1708343" y="148924"/>
                  </a:lnTo>
                  <a:cubicBezTo>
                    <a:pt x="1708343" y="180580"/>
                    <a:pt x="1695768" y="210938"/>
                    <a:pt x="1673384" y="233322"/>
                  </a:cubicBezTo>
                  <a:cubicBezTo>
                    <a:pt x="1651000" y="255706"/>
                    <a:pt x="1620642" y="268281"/>
                    <a:pt x="1588986" y="268281"/>
                  </a:cubicBezTo>
                  <a:lnTo>
                    <a:pt x="119357" y="268281"/>
                  </a:lnTo>
                  <a:cubicBezTo>
                    <a:pt x="53438" y="268281"/>
                    <a:pt x="0" y="214843"/>
                    <a:pt x="0" y="148924"/>
                  </a:cubicBezTo>
                  <a:lnTo>
                    <a:pt x="0" y="119357"/>
                  </a:lnTo>
                  <a:cubicBezTo>
                    <a:pt x="0" y="53438"/>
                    <a:pt x="53438" y="0"/>
                    <a:pt x="119357" y="0"/>
                  </a:cubicBezTo>
                  <a:close/>
                </a:path>
              </a:pathLst>
            </a:custGeom>
            <a:solidFill>
              <a:srgbClr val="C0E4F6"/>
            </a:solidFill>
          </p:spPr>
        </p:sp>
        <p:sp>
          <p:nvSpPr>
            <p:cNvPr id="4" name="TextBox 4"/>
            <p:cNvSpPr txBox="1"/>
            <p:nvPr/>
          </p:nvSpPr>
          <p:spPr>
            <a:xfrm>
              <a:off x="0" y="-28575"/>
              <a:ext cx="1708343" cy="296856"/>
            </a:xfrm>
            <a:prstGeom prst="rect">
              <a:avLst/>
            </a:prstGeom>
          </p:spPr>
          <p:txBody>
            <a:bodyPr lIns="50800" tIns="50800" rIns="50800" bIns="50800" rtlCol="0" anchor="ctr"/>
            <a:lstStyle/>
            <a:p>
              <a:pPr algn="ctr">
                <a:lnSpc>
                  <a:spcPts val="2100"/>
                </a:lnSpc>
              </a:pPr>
              <a:endParaRPr/>
            </a:p>
          </p:txBody>
        </p:sp>
      </p:grpSp>
      <p:grpSp>
        <p:nvGrpSpPr>
          <p:cNvPr id="5" name="Group 5"/>
          <p:cNvGrpSpPr/>
          <p:nvPr/>
        </p:nvGrpSpPr>
        <p:grpSpPr>
          <a:xfrm>
            <a:off x="3310361" y="9681230"/>
            <a:ext cx="15903157" cy="640680"/>
            <a:chOff x="0" y="0"/>
            <a:chExt cx="4188486" cy="168739"/>
          </a:xfrm>
        </p:grpSpPr>
        <p:sp>
          <p:nvSpPr>
            <p:cNvPr id="6" name="Freeform 6"/>
            <p:cNvSpPr/>
            <p:nvPr/>
          </p:nvSpPr>
          <p:spPr>
            <a:xfrm>
              <a:off x="0" y="0"/>
              <a:ext cx="4188486" cy="168739"/>
            </a:xfrm>
            <a:custGeom>
              <a:avLst/>
              <a:gdLst/>
              <a:ahLst/>
              <a:cxnLst/>
              <a:rect l="l" t="t" r="r" b="b"/>
              <a:pathLst>
                <a:path w="4188486" h="168739">
                  <a:moveTo>
                    <a:pt x="203200" y="0"/>
                  </a:moveTo>
                  <a:lnTo>
                    <a:pt x="4188486" y="0"/>
                  </a:lnTo>
                  <a:lnTo>
                    <a:pt x="3985286" y="168739"/>
                  </a:lnTo>
                  <a:lnTo>
                    <a:pt x="0" y="168739"/>
                  </a:lnTo>
                  <a:lnTo>
                    <a:pt x="203200" y="0"/>
                  </a:lnTo>
                  <a:close/>
                </a:path>
              </a:pathLst>
            </a:custGeom>
            <a:solidFill>
              <a:srgbClr val="4A44BD"/>
            </a:solidFill>
          </p:spPr>
        </p:sp>
        <p:sp>
          <p:nvSpPr>
            <p:cNvPr id="7" name="TextBox 7"/>
            <p:cNvSpPr txBox="1"/>
            <p:nvPr/>
          </p:nvSpPr>
          <p:spPr>
            <a:xfrm>
              <a:off x="101600" y="-28575"/>
              <a:ext cx="3985286" cy="197314"/>
            </a:xfrm>
            <a:prstGeom prst="rect">
              <a:avLst/>
            </a:prstGeom>
          </p:spPr>
          <p:txBody>
            <a:bodyPr lIns="50800" tIns="50800" rIns="50800" bIns="50800" rtlCol="0" anchor="ctr"/>
            <a:lstStyle/>
            <a:p>
              <a:pPr algn="ctr">
                <a:lnSpc>
                  <a:spcPts val="2100"/>
                </a:lnSpc>
              </a:pPr>
              <a:endParaRPr/>
            </a:p>
          </p:txBody>
        </p:sp>
      </p:grpSp>
      <p:grpSp>
        <p:nvGrpSpPr>
          <p:cNvPr id="8" name="Group 8"/>
          <p:cNvGrpSpPr/>
          <p:nvPr/>
        </p:nvGrpSpPr>
        <p:grpSpPr>
          <a:xfrm rot="-5400000">
            <a:off x="3473030" y="1669613"/>
            <a:ext cx="1052379" cy="2699927"/>
            <a:chOff x="0" y="0"/>
            <a:chExt cx="4224020" cy="10836915"/>
          </a:xfrm>
        </p:grpSpPr>
        <p:sp>
          <p:nvSpPr>
            <p:cNvPr id="9" name="Freeform 9"/>
            <p:cNvSpPr/>
            <p:nvPr/>
          </p:nvSpPr>
          <p:spPr>
            <a:xfrm>
              <a:off x="0" y="0"/>
              <a:ext cx="4224020" cy="10836915"/>
            </a:xfrm>
            <a:custGeom>
              <a:avLst/>
              <a:gdLst/>
              <a:ahLst/>
              <a:cxnLst/>
              <a:rect l="l" t="t" r="r" b="b"/>
              <a:pathLst>
                <a:path w="4224020" h="10836915">
                  <a:moveTo>
                    <a:pt x="4224020" y="10836915"/>
                  </a:moveTo>
                  <a:lnTo>
                    <a:pt x="2441575" y="10836915"/>
                  </a:lnTo>
                  <a:cubicBezTo>
                    <a:pt x="1093089" y="10836915"/>
                    <a:pt x="0" y="9743826"/>
                    <a:pt x="0" y="8395340"/>
                  </a:cubicBezTo>
                  <a:lnTo>
                    <a:pt x="0" y="0"/>
                  </a:lnTo>
                  <a:lnTo>
                    <a:pt x="1782445" y="0"/>
                  </a:lnTo>
                  <a:cubicBezTo>
                    <a:pt x="3130931" y="0"/>
                    <a:pt x="4224020" y="1093089"/>
                    <a:pt x="4224020" y="2441575"/>
                  </a:cubicBezTo>
                  <a:lnTo>
                    <a:pt x="4224020" y="10836915"/>
                  </a:lnTo>
                  <a:close/>
                </a:path>
              </a:pathLst>
            </a:custGeom>
            <a:solidFill>
              <a:srgbClr val="C0E4F6"/>
            </a:solidFill>
          </p:spPr>
        </p:sp>
      </p:grpSp>
      <p:grpSp>
        <p:nvGrpSpPr>
          <p:cNvPr id="10" name="Group 10"/>
          <p:cNvGrpSpPr/>
          <p:nvPr/>
        </p:nvGrpSpPr>
        <p:grpSpPr>
          <a:xfrm rot="-5400000">
            <a:off x="6721043" y="1669613"/>
            <a:ext cx="1052379" cy="2699927"/>
            <a:chOff x="0" y="0"/>
            <a:chExt cx="4224020" cy="10836915"/>
          </a:xfrm>
        </p:grpSpPr>
        <p:sp>
          <p:nvSpPr>
            <p:cNvPr id="11" name="Freeform 11"/>
            <p:cNvSpPr/>
            <p:nvPr/>
          </p:nvSpPr>
          <p:spPr>
            <a:xfrm>
              <a:off x="0" y="0"/>
              <a:ext cx="4224020" cy="10836915"/>
            </a:xfrm>
            <a:custGeom>
              <a:avLst/>
              <a:gdLst/>
              <a:ahLst/>
              <a:cxnLst/>
              <a:rect l="l" t="t" r="r" b="b"/>
              <a:pathLst>
                <a:path w="4224020" h="10836915">
                  <a:moveTo>
                    <a:pt x="4224020" y="10836915"/>
                  </a:moveTo>
                  <a:lnTo>
                    <a:pt x="2441575" y="10836915"/>
                  </a:lnTo>
                  <a:cubicBezTo>
                    <a:pt x="1093089" y="10836915"/>
                    <a:pt x="0" y="9743826"/>
                    <a:pt x="0" y="8395340"/>
                  </a:cubicBezTo>
                  <a:lnTo>
                    <a:pt x="0" y="0"/>
                  </a:lnTo>
                  <a:lnTo>
                    <a:pt x="1782445" y="0"/>
                  </a:lnTo>
                  <a:cubicBezTo>
                    <a:pt x="3130931" y="0"/>
                    <a:pt x="4224020" y="1093089"/>
                    <a:pt x="4224020" y="2441575"/>
                  </a:cubicBezTo>
                  <a:lnTo>
                    <a:pt x="4224020" y="10836915"/>
                  </a:lnTo>
                  <a:close/>
                </a:path>
              </a:pathLst>
            </a:custGeom>
            <a:solidFill>
              <a:srgbClr val="C0E4F6"/>
            </a:solidFill>
          </p:spPr>
        </p:sp>
      </p:grpSp>
      <p:grpSp>
        <p:nvGrpSpPr>
          <p:cNvPr id="12" name="Group 12"/>
          <p:cNvGrpSpPr/>
          <p:nvPr/>
        </p:nvGrpSpPr>
        <p:grpSpPr>
          <a:xfrm rot="-5400000">
            <a:off x="9969055" y="1669613"/>
            <a:ext cx="1052379" cy="2699927"/>
            <a:chOff x="0" y="0"/>
            <a:chExt cx="4224020" cy="10836915"/>
          </a:xfrm>
        </p:grpSpPr>
        <p:sp>
          <p:nvSpPr>
            <p:cNvPr id="13" name="Freeform 13"/>
            <p:cNvSpPr/>
            <p:nvPr/>
          </p:nvSpPr>
          <p:spPr>
            <a:xfrm>
              <a:off x="0" y="0"/>
              <a:ext cx="4224020" cy="10836915"/>
            </a:xfrm>
            <a:custGeom>
              <a:avLst/>
              <a:gdLst/>
              <a:ahLst/>
              <a:cxnLst/>
              <a:rect l="l" t="t" r="r" b="b"/>
              <a:pathLst>
                <a:path w="4224020" h="10836915">
                  <a:moveTo>
                    <a:pt x="4224020" y="10836915"/>
                  </a:moveTo>
                  <a:lnTo>
                    <a:pt x="2441575" y="10836915"/>
                  </a:lnTo>
                  <a:cubicBezTo>
                    <a:pt x="1093089" y="10836915"/>
                    <a:pt x="0" y="9743826"/>
                    <a:pt x="0" y="8395340"/>
                  </a:cubicBezTo>
                  <a:lnTo>
                    <a:pt x="0" y="0"/>
                  </a:lnTo>
                  <a:lnTo>
                    <a:pt x="1782445" y="0"/>
                  </a:lnTo>
                  <a:cubicBezTo>
                    <a:pt x="3130931" y="0"/>
                    <a:pt x="4224020" y="1093089"/>
                    <a:pt x="4224020" y="2441575"/>
                  </a:cubicBezTo>
                  <a:lnTo>
                    <a:pt x="4224020" y="10836915"/>
                  </a:lnTo>
                  <a:close/>
                </a:path>
              </a:pathLst>
            </a:custGeom>
            <a:solidFill>
              <a:srgbClr val="C0E4F6"/>
            </a:solidFill>
          </p:spPr>
        </p:sp>
      </p:grpSp>
      <p:grpSp>
        <p:nvGrpSpPr>
          <p:cNvPr id="14" name="Group 14"/>
          <p:cNvGrpSpPr/>
          <p:nvPr/>
        </p:nvGrpSpPr>
        <p:grpSpPr>
          <a:xfrm rot="-5400000">
            <a:off x="13214019" y="1669613"/>
            <a:ext cx="1052379" cy="2699927"/>
            <a:chOff x="0" y="0"/>
            <a:chExt cx="4224020" cy="10836915"/>
          </a:xfrm>
        </p:grpSpPr>
        <p:sp>
          <p:nvSpPr>
            <p:cNvPr id="15" name="Freeform 15"/>
            <p:cNvSpPr/>
            <p:nvPr/>
          </p:nvSpPr>
          <p:spPr>
            <a:xfrm>
              <a:off x="0" y="0"/>
              <a:ext cx="4224020" cy="10836915"/>
            </a:xfrm>
            <a:custGeom>
              <a:avLst/>
              <a:gdLst/>
              <a:ahLst/>
              <a:cxnLst/>
              <a:rect l="l" t="t" r="r" b="b"/>
              <a:pathLst>
                <a:path w="4224020" h="10836915">
                  <a:moveTo>
                    <a:pt x="4224020" y="10836915"/>
                  </a:moveTo>
                  <a:lnTo>
                    <a:pt x="2441575" y="10836915"/>
                  </a:lnTo>
                  <a:cubicBezTo>
                    <a:pt x="1093089" y="10836915"/>
                    <a:pt x="0" y="9743826"/>
                    <a:pt x="0" y="8395340"/>
                  </a:cubicBezTo>
                  <a:lnTo>
                    <a:pt x="0" y="0"/>
                  </a:lnTo>
                  <a:lnTo>
                    <a:pt x="1782445" y="0"/>
                  </a:lnTo>
                  <a:cubicBezTo>
                    <a:pt x="3130931" y="0"/>
                    <a:pt x="4224020" y="1093089"/>
                    <a:pt x="4224020" y="2441575"/>
                  </a:cubicBezTo>
                  <a:lnTo>
                    <a:pt x="4224020" y="10836915"/>
                  </a:lnTo>
                  <a:close/>
                </a:path>
              </a:pathLst>
            </a:custGeom>
            <a:solidFill>
              <a:srgbClr val="C0E4F6"/>
            </a:solidFill>
          </p:spPr>
        </p:sp>
      </p:grpSp>
      <p:sp>
        <p:nvSpPr>
          <p:cNvPr id="16" name="Freeform 16"/>
          <p:cNvSpPr/>
          <p:nvPr/>
        </p:nvSpPr>
        <p:spPr>
          <a:xfrm>
            <a:off x="11739853" y="4698084"/>
            <a:ext cx="5160494" cy="4421521"/>
          </a:xfrm>
          <a:custGeom>
            <a:avLst/>
            <a:gdLst/>
            <a:ahLst/>
            <a:cxnLst/>
            <a:rect l="l" t="t" r="r" b="b"/>
            <a:pathLst>
              <a:path w="5160494" h="4421521">
                <a:moveTo>
                  <a:pt x="0" y="0"/>
                </a:moveTo>
                <a:lnTo>
                  <a:pt x="5160494" y="0"/>
                </a:lnTo>
                <a:lnTo>
                  <a:pt x="5160494" y="4421521"/>
                </a:lnTo>
                <a:lnTo>
                  <a:pt x="0" y="4421521"/>
                </a:lnTo>
                <a:lnTo>
                  <a:pt x="0" y="0"/>
                </a:lnTo>
                <a:close/>
              </a:path>
            </a:pathLst>
          </a:custGeom>
          <a:blipFill>
            <a:blip r:embed="rId3"/>
            <a:stretch>
              <a:fillRect/>
            </a:stretch>
          </a:blipFill>
        </p:spPr>
      </p:sp>
      <p:sp>
        <p:nvSpPr>
          <p:cNvPr id="17" name="TextBox 17"/>
          <p:cNvSpPr txBox="1"/>
          <p:nvPr/>
        </p:nvSpPr>
        <p:spPr>
          <a:xfrm>
            <a:off x="2981259" y="2816264"/>
            <a:ext cx="2035922" cy="444723"/>
          </a:xfrm>
          <a:prstGeom prst="rect">
            <a:avLst/>
          </a:prstGeom>
        </p:spPr>
        <p:txBody>
          <a:bodyPr lIns="0" tIns="0" rIns="0" bIns="0" rtlCol="0" anchor="t">
            <a:spAutoFit/>
          </a:bodyPr>
          <a:lstStyle/>
          <a:p>
            <a:pPr marL="0" lvl="0" indent="0" algn="ctr">
              <a:lnSpc>
                <a:spcPts val="3490"/>
              </a:lnSpc>
            </a:pPr>
            <a:r>
              <a:rPr lang="en-US" sz="3172" b="1" spc="-63">
                <a:solidFill>
                  <a:srgbClr val="4A44BD"/>
                </a:solidFill>
                <a:latin typeface="Garet Bold"/>
                <a:ea typeface="Garet Bold"/>
                <a:cs typeface="Garet Bold"/>
                <a:sym typeface="Garet Bold"/>
              </a:rPr>
              <a:t>₹ 4.0bn</a:t>
            </a:r>
          </a:p>
        </p:txBody>
      </p:sp>
      <p:sp>
        <p:nvSpPr>
          <p:cNvPr id="18" name="TextBox 18"/>
          <p:cNvSpPr txBox="1"/>
          <p:nvPr/>
        </p:nvSpPr>
        <p:spPr>
          <a:xfrm>
            <a:off x="2649257" y="3785901"/>
            <a:ext cx="2699927" cy="250199"/>
          </a:xfrm>
          <a:prstGeom prst="rect">
            <a:avLst/>
          </a:prstGeom>
        </p:spPr>
        <p:txBody>
          <a:bodyPr lIns="0" tIns="0" rIns="0" bIns="0" rtlCol="0" anchor="t">
            <a:spAutoFit/>
          </a:bodyPr>
          <a:lstStyle/>
          <a:p>
            <a:pPr marL="0" lvl="0" indent="0" algn="ctr">
              <a:lnSpc>
                <a:spcPts val="2062"/>
              </a:lnSpc>
            </a:pPr>
            <a:r>
              <a:rPr lang="en-US" sz="1473">
                <a:solidFill>
                  <a:srgbClr val="000000"/>
                </a:solidFill>
                <a:latin typeface="Open Sauce"/>
                <a:ea typeface="Open Sauce"/>
                <a:cs typeface="Open Sauce"/>
                <a:sym typeface="Open Sauce"/>
              </a:rPr>
              <a:t>Monthly Average</a:t>
            </a:r>
          </a:p>
        </p:txBody>
      </p:sp>
      <p:sp>
        <p:nvSpPr>
          <p:cNvPr id="19" name="TextBox 19"/>
          <p:cNvSpPr txBox="1"/>
          <p:nvPr/>
        </p:nvSpPr>
        <p:spPr>
          <a:xfrm>
            <a:off x="6229272" y="2816264"/>
            <a:ext cx="2035922" cy="444723"/>
          </a:xfrm>
          <a:prstGeom prst="rect">
            <a:avLst/>
          </a:prstGeom>
        </p:spPr>
        <p:txBody>
          <a:bodyPr lIns="0" tIns="0" rIns="0" bIns="0" rtlCol="0" anchor="t">
            <a:spAutoFit/>
          </a:bodyPr>
          <a:lstStyle/>
          <a:p>
            <a:pPr marL="0" lvl="0" indent="0" algn="ctr">
              <a:lnSpc>
                <a:spcPts val="3490"/>
              </a:lnSpc>
            </a:pPr>
            <a:r>
              <a:rPr lang="en-US" sz="3172" b="1" spc="-63">
                <a:solidFill>
                  <a:srgbClr val="4A44BD"/>
                </a:solidFill>
                <a:latin typeface="Garet Bold"/>
                <a:ea typeface="Garet Bold"/>
                <a:cs typeface="Garet Bold"/>
                <a:sym typeface="Garet Bold"/>
              </a:rPr>
              <a:t>₹ 16.0bn</a:t>
            </a:r>
          </a:p>
        </p:txBody>
      </p:sp>
      <p:sp>
        <p:nvSpPr>
          <p:cNvPr id="20" name="TextBox 20"/>
          <p:cNvSpPr txBox="1"/>
          <p:nvPr/>
        </p:nvSpPr>
        <p:spPr>
          <a:xfrm>
            <a:off x="9477284" y="2816264"/>
            <a:ext cx="2035922" cy="444723"/>
          </a:xfrm>
          <a:prstGeom prst="rect">
            <a:avLst/>
          </a:prstGeom>
        </p:spPr>
        <p:txBody>
          <a:bodyPr lIns="0" tIns="0" rIns="0" bIns="0" rtlCol="0" anchor="t">
            <a:spAutoFit/>
          </a:bodyPr>
          <a:lstStyle/>
          <a:p>
            <a:pPr marL="0" lvl="0" indent="0" algn="ctr">
              <a:lnSpc>
                <a:spcPts val="3490"/>
              </a:lnSpc>
            </a:pPr>
            <a:r>
              <a:rPr lang="en-US" sz="3172" b="1" spc="-63">
                <a:solidFill>
                  <a:srgbClr val="4A44BD"/>
                </a:solidFill>
                <a:latin typeface="Garet Bold"/>
                <a:ea typeface="Garet Bold"/>
                <a:cs typeface="Garet Bold"/>
                <a:sym typeface="Garet Bold"/>
              </a:rPr>
              <a:t>₹ 15.9bn</a:t>
            </a:r>
          </a:p>
        </p:txBody>
      </p:sp>
      <p:sp>
        <p:nvSpPr>
          <p:cNvPr id="21" name="TextBox 21"/>
          <p:cNvSpPr txBox="1"/>
          <p:nvPr/>
        </p:nvSpPr>
        <p:spPr>
          <a:xfrm>
            <a:off x="5897269" y="3785901"/>
            <a:ext cx="2699927" cy="250199"/>
          </a:xfrm>
          <a:prstGeom prst="rect">
            <a:avLst/>
          </a:prstGeom>
        </p:spPr>
        <p:txBody>
          <a:bodyPr lIns="0" tIns="0" rIns="0" bIns="0" rtlCol="0" anchor="t">
            <a:spAutoFit/>
          </a:bodyPr>
          <a:lstStyle/>
          <a:p>
            <a:pPr marL="0" lvl="0" indent="0" algn="ctr">
              <a:lnSpc>
                <a:spcPts val="2062"/>
              </a:lnSpc>
            </a:pPr>
            <a:r>
              <a:rPr lang="en-US" sz="1473">
                <a:solidFill>
                  <a:srgbClr val="000000"/>
                </a:solidFill>
                <a:latin typeface="Open Sauce"/>
                <a:ea typeface="Open Sauce"/>
                <a:cs typeface="Open Sauce"/>
                <a:sym typeface="Open Sauce"/>
              </a:rPr>
              <a:t>Before 5G</a:t>
            </a:r>
          </a:p>
        </p:txBody>
      </p:sp>
      <p:sp>
        <p:nvSpPr>
          <p:cNvPr id="22" name="TextBox 22"/>
          <p:cNvSpPr txBox="1"/>
          <p:nvPr/>
        </p:nvSpPr>
        <p:spPr>
          <a:xfrm>
            <a:off x="9145282" y="3785901"/>
            <a:ext cx="2699927" cy="250199"/>
          </a:xfrm>
          <a:prstGeom prst="rect">
            <a:avLst/>
          </a:prstGeom>
        </p:spPr>
        <p:txBody>
          <a:bodyPr lIns="0" tIns="0" rIns="0" bIns="0" rtlCol="0" anchor="t">
            <a:spAutoFit/>
          </a:bodyPr>
          <a:lstStyle/>
          <a:p>
            <a:pPr marL="0" lvl="0" indent="0" algn="ctr">
              <a:lnSpc>
                <a:spcPts val="2062"/>
              </a:lnSpc>
            </a:pPr>
            <a:r>
              <a:rPr lang="en-US" sz="1473">
                <a:solidFill>
                  <a:srgbClr val="000000"/>
                </a:solidFill>
                <a:latin typeface="Open Sauce"/>
                <a:ea typeface="Open Sauce"/>
                <a:cs typeface="Open Sauce"/>
                <a:sym typeface="Open Sauce"/>
              </a:rPr>
              <a:t>After 5G</a:t>
            </a:r>
          </a:p>
        </p:txBody>
      </p:sp>
      <p:sp>
        <p:nvSpPr>
          <p:cNvPr id="23" name="TextBox 23"/>
          <p:cNvSpPr txBox="1"/>
          <p:nvPr/>
        </p:nvSpPr>
        <p:spPr>
          <a:xfrm>
            <a:off x="5530391" y="1459928"/>
            <a:ext cx="8496110" cy="409575"/>
          </a:xfrm>
          <a:prstGeom prst="rect">
            <a:avLst/>
          </a:prstGeom>
        </p:spPr>
        <p:txBody>
          <a:bodyPr lIns="0" tIns="0" rIns="0" bIns="0" rtlCol="0" anchor="t">
            <a:spAutoFit/>
          </a:bodyPr>
          <a:lstStyle/>
          <a:p>
            <a:pPr marL="0" lvl="0" indent="0" algn="l">
              <a:lnSpc>
                <a:spcPts val="3299"/>
              </a:lnSpc>
            </a:pPr>
            <a:r>
              <a:rPr lang="en-US" sz="2999" b="1">
                <a:solidFill>
                  <a:srgbClr val="4A44BD"/>
                </a:solidFill>
                <a:latin typeface="Garet Bold"/>
                <a:ea typeface="Garet Bold"/>
                <a:cs typeface="Garet Bold"/>
                <a:sym typeface="Garet Bold"/>
              </a:rPr>
              <a:t>Revenue Impact of 5G Launch</a:t>
            </a:r>
          </a:p>
        </p:txBody>
      </p:sp>
      <p:sp>
        <p:nvSpPr>
          <p:cNvPr id="24" name="TextBox 24"/>
          <p:cNvSpPr txBox="1"/>
          <p:nvPr/>
        </p:nvSpPr>
        <p:spPr>
          <a:xfrm>
            <a:off x="12722248" y="2816264"/>
            <a:ext cx="2035922" cy="444723"/>
          </a:xfrm>
          <a:prstGeom prst="rect">
            <a:avLst/>
          </a:prstGeom>
        </p:spPr>
        <p:txBody>
          <a:bodyPr lIns="0" tIns="0" rIns="0" bIns="0" rtlCol="0" anchor="t">
            <a:spAutoFit/>
          </a:bodyPr>
          <a:lstStyle/>
          <a:p>
            <a:pPr marL="0" lvl="0" indent="0" algn="ctr">
              <a:lnSpc>
                <a:spcPts val="3490"/>
              </a:lnSpc>
            </a:pPr>
            <a:r>
              <a:rPr lang="en-US" sz="3172" b="1" spc="-63">
                <a:solidFill>
                  <a:srgbClr val="4A44BD"/>
                </a:solidFill>
                <a:latin typeface="Garet Bold"/>
                <a:ea typeface="Garet Bold"/>
                <a:cs typeface="Garet Bold"/>
                <a:sym typeface="Garet Bold"/>
              </a:rPr>
              <a:t>₹ -0.50%</a:t>
            </a:r>
          </a:p>
        </p:txBody>
      </p:sp>
      <p:sp>
        <p:nvSpPr>
          <p:cNvPr id="25" name="TextBox 25"/>
          <p:cNvSpPr txBox="1"/>
          <p:nvPr/>
        </p:nvSpPr>
        <p:spPr>
          <a:xfrm>
            <a:off x="12390246" y="3785901"/>
            <a:ext cx="2699927" cy="250199"/>
          </a:xfrm>
          <a:prstGeom prst="rect">
            <a:avLst/>
          </a:prstGeom>
        </p:spPr>
        <p:txBody>
          <a:bodyPr lIns="0" tIns="0" rIns="0" bIns="0" rtlCol="0" anchor="t">
            <a:spAutoFit/>
          </a:bodyPr>
          <a:lstStyle/>
          <a:p>
            <a:pPr marL="0" lvl="0" indent="0" algn="ctr">
              <a:lnSpc>
                <a:spcPts val="2062"/>
              </a:lnSpc>
            </a:pPr>
            <a:r>
              <a:rPr lang="en-US" sz="1473">
                <a:solidFill>
                  <a:srgbClr val="000000"/>
                </a:solidFill>
                <a:latin typeface="Open Sauce"/>
                <a:ea typeface="Open Sauce"/>
                <a:cs typeface="Open Sauce"/>
                <a:sym typeface="Open Sauce"/>
              </a:rPr>
              <a:t>Chg %</a:t>
            </a:r>
          </a:p>
        </p:txBody>
      </p:sp>
      <p:sp>
        <p:nvSpPr>
          <p:cNvPr id="26" name="TextBox 26"/>
          <p:cNvSpPr txBox="1"/>
          <p:nvPr/>
        </p:nvSpPr>
        <p:spPr>
          <a:xfrm>
            <a:off x="1066800" y="4974745"/>
            <a:ext cx="10109835" cy="3169009"/>
          </a:xfrm>
          <a:prstGeom prst="rect">
            <a:avLst/>
          </a:prstGeom>
        </p:spPr>
        <p:txBody>
          <a:bodyPr lIns="0" tIns="0" rIns="0" bIns="0" rtlCol="0" anchor="t">
            <a:spAutoFit/>
          </a:bodyPr>
          <a:lstStyle/>
          <a:p>
            <a:pPr marL="386235" lvl="1" indent="-193117" algn="l">
              <a:lnSpc>
                <a:spcPts val="3631"/>
              </a:lnSpc>
              <a:buFont typeface="Arial"/>
              <a:buChar char="•"/>
            </a:pPr>
            <a:r>
              <a:rPr lang="en-US" sz="1788" dirty="0">
                <a:solidFill>
                  <a:srgbClr val="000000"/>
                </a:solidFill>
                <a:latin typeface="Open Sauce"/>
                <a:ea typeface="Open Sauce"/>
                <a:cs typeface="Open Sauce"/>
                <a:sym typeface="Open Sauce"/>
              </a:rPr>
              <a:t>There was a slight decline of –0.50% after the 5G launch.</a:t>
            </a:r>
          </a:p>
          <a:p>
            <a:pPr marL="386235" lvl="1" indent="-193117" algn="l">
              <a:lnSpc>
                <a:spcPts val="3631"/>
              </a:lnSpc>
              <a:buFont typeface="Arial"/>
              <a:buChar char="•"/>
            </a:pPr>
            <a:r>
              <a:rPr lang="en-US" sz="1788" dirty="0">
                <a:solidFill>
                  <a:srgbClr val="000000"/>
                </a:solidFill>
                <a:latin typeface="Open Sauce"/>
                <a:ea typeface="Open Sauce"/>
                <a:cs typeface="Open Sauce"/>
                <a:sym typeface="Open Sauce"/>
              </a:rPr>
              <a:t>Significant declines observed in major cities: Delhi (–2.83%), Hyderabad (–1.29%), Ahmedabad (–1.09%), and Chennai (–1.09%).</a:t>
            </a:r>
          </a:p>
          <a:p>
            <a:pPr marL="386235" lvl="1" indent="-193117" algn="l">
              <a:lnSpc>
                <a:spcPts val="3631"/>
              </a:lnSpc>
              <a:buFont typeface="Arial"/>
              <a:buChar char="•"/>
            </a:pPr>
            <a:r>
              <a:rPr lang="en-US" sz="1788" dirty="0">
                <a:solidFill>
                  <a:srgbClr val="000000"/>
                </a:solidFill>
                <a:latin typeface="Open Sauce"/>
                <a:ea typeface="Open Sauce"/>
                <a:cs typeface="Open Sauce"/>
                <a:sym typeface="Open Sauce"/>
              </a:rPr>
              <a:t>Strong growth in Lucknow(+1.82%), Gurgaon (+1.51%), Raipur (+1.15%), Patna (+1.48%), and Jaipur (+0.98%).</a:t>
            </a:r>
          </a:p>
          <a:p>
            <a:pPr marL="386235" lvl="1" indent="-193117" algn="l">
              <a:lnSpc>
                <a:spcPts val="3631"/>
              </a:lnSpc>
              <a:buFont typeface="Arial"/>
              <a:buChar char="•"/>
            </a:pPr>
            <a:r>
              <a:rPr lang="en-US" sz="1788" dirty="0">
                <a:solidFill>
                  <a:srgbClr val="000000"/>
                </a:solidFill>
                <a:latin typeface="Open Sauce"/>
                <a:ea typeface="Open Sauce"/>
                <a:cs typeface="Open Sauce"/>
                <a:sym typeface="Open Sauce"/>
              </a:rPr>
              <a:t>Major metros like Mumbai, Delhi, and Kolkata contribute the highest revenue, while cities such as Raipur, Gurgaon, and Chandigarh contribute the least.</a:t>
            </a: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92702" y="9268371"/>
            <a:ext cx="6486365" cy="1018629"/>
            <a:chOff x="0" y="0"/>
            <a:chExt cx="1708343" cy="268281"/>
          </a:xfrm>
        </p:grpSpPr>
        <p:sp>
          <p:nvSpPr>
            <p:cNvPr id="3" name="Freeform 3"/>
            <p:cNvSpPr/>
            <p:nvPr/>
          </p:nvSpPr>
          <p:spPr>
            <a:xfrm>
              <a:off x="0" y="0"/>
              <a:ext cx="1708343" cy="268281"/>
            </a:xfrm>
            <a:custGeom>
              <a:avLst/>
              <a:gdLst/>
              <a:ahLst/>
              <a:cxnLst/>
              <a:rect l="l" t="t" r="r" b="b"/>
              <a:pathLst>
                <a:path w="1708343" h="268281">
                  <a:moveTo>
                    <a:pt x="119357" y="0"/>
                  </a:moveTo>
                  <a:lnTo>
                    <a:pt x="1588986" y="0"/>
                  </a:lnTo>
                  <a:cubicBezTo>
                    <a:pt x="1654905" y="0"/>
                    <a:pt x="1708343" y="53438"/>
                    <a:pt x="1708343" y="119357"/>
                  </a:cubicBezTo>
                  <a:lnTo>
                    <a:pt x="1708343" y="148924"/>
                  </a:lnTo>
                  <a:cubicBezTo>
                    <a:pt x="1708343" y="180580"/>
                    <a:pt x="1695768" y="210938"/>
                    <a:pt x="1673384" y="233322"/>
                  </a:cubicBezTo>
                  <a:cubicBezTo>
                    <a:pt x="1651000" y="255706"/>
                    <a:pt x="1620642" y="268281"/>
                    <a:pt x="1588986" y="268281"/>
                  </a:cubicBezTo>
                  <a:lnTo>
                    <a:pt x="119357" y="268281"/>
                  </a:lnTo>
                  <a:cubicBezTo>
                    <a:pt x="53438" y="268281"/>
                    <a:pt x="0" y="214843"/>
                    <a:pt x="0" y="148924"/>
                  </a:cubicBezTo>
                  <a:lnTo>
                    <a:pt x="0" y="119357"/>
                  </a:lnTo>
                  <a:cubicBezTo>
                    <a:pt x="0" y="53438"/>
                    <a:pt x="53438" y="0"/>
                    <a:pt x="119357" y="0"/>
                  </a:cubicBezTo>
                  <a:close/>
                </a:path>
              </a:pathLst>
            </a:custGeom>
            <a:solidFill>
              <a:srgbClr val="C0E4F6"/>
            </a:solidFill>
          </p:spPr>
        </p:sp>
        <p:sp>
          <p:nvSpPr>
            <p:cNvPr id="4" name="TextBox 4"/>
            <p:cNvSpPr txBox="1"/>
            <p:nvPr/>
          </p:nvSpPr>
          <p:spPr>
            <a:xfrm>
              <a:off x="0" y="-28575"/>
              <a:ext cx="1708343" cy="296856"/>
            </a:xfrm>
            <a:prstGeom prst="rect">
              <a:avLst/>
            </a:prstGeom>
          </p:spPr>
          <p:txBody>
            <a:bodyPr lIns="50800" tIns="50800" rIns="50800" bIns="50800" rtlCol="0" anchor="ctr"/>
            <a:lstStyle/>
            <a:p>
              <a:pPr algn="ctr">
                <a:lnSpc>
                  <a:spcPts val="2100"/>
                </a:lnSpc>
              </a:pPr>
              <a:endParaRPr/>
            </a:p>
          </p:txBody>
        </p:sp>
      </p:grpSp>
      <p:grpSp>
        <p:nvGrpSpPr>
          <p:cNvPr id="5" name="Group 5"/>
          <p:cNvGrpSpPr/>
          <p:nvPr/>
        </p:nvGrpSpPr>
        <p:grpSpPr>
          <a:xfrm>
            <a:off x="3310361" y="9681230"/>
            <a:ext cx="15903157" cy="640680"/>
            <a:chOff x="0" y="0"/>
            <a:chExt cx="4188486" cy="168739"/>
          </a:xfrm>
        </p:grpSpPr>
        <p:sp>
          <p:nvSpPr>
            <p:cNvPr id="6" name="Freeform 6"/>
            <p:cNvSpPr/>
            <p:nvPr/>
          </p:nvSpPr>
          <p:spPr>
            <a:xfrm>
              <a:off x="0" y="0"/>
              <a:ext cx="4188486" cy="168739"/>
            </a:xfrm>
            <a:custGeom>
              <a:avLst/>
              <a:gdLst/>
              <a:ahLst/>
              <a:cxnLst/>
              <a:rect l="l" t="t" r="r" b="b"/>
              <a:pathLst>
                <a:path w="4188486" h="168739">
                  <a:moveTo>
                    <a:pt x="203200" y="0"/>
                  </a:moveTo>
                  <a:lnTo>
                    <a:pt x="4188486" y="0"/>
                  </a:lnTo>
                  <a:lnTo>
                    <a:pt x="3985286" y="168739"/>
                  </a:lnTo>
                  <a:lnTo>
                    <a:pt x="0" y="168739"/>
                  </a:lnTo>
                  <a:lnTo>
                    <a:pt x="203200" y="0"/>
                  </a:lnTo>
                  <a:close/>
                </a:path>
              </a:pathLst>
            </a:custGeom>
            <a:solidFill>
              <a:srgbClr val="4A44BD"/>
            </a:solidFill>
          </p:spPr>
        </p:sp>
        <p:sp>
          <p:nvSpPr>
            <p:cNvPr id="7" name="TextBox 7"/>
            <p:cNvSpPr txBox="1"/>
            <p:nvPr/>
          </p:nvSpPr>
          <p:spPr>
            <a:xfrm>
              <a:off x="101600" y="-28575"/>
              <a:ext cx="3985286" cy="197314"/>
            </a:xfrm>
            <a:prstGeom prst="rect">
              <a:avLst/>
            </a:prstGeom>
          </p:spPr>
          <p:txBody>
            <a:bodyPr lIns="50800" tIns="50800" rIns="50800" bIns="50800" rtlCol="0" anchor="ctr"/>
            <a:lstStyle/>
            <a:p>
              <a:pPr algn="ctr">
                <a:lnSpc>
                  <a:spcPts val="2100"/>
                </a:lnSpc>
              </a:pPr>
              <a:endParaRPr/>
            </a:p>
          </p:txBody>
        </p:sp>
      </p:grpSp>
      <p:grpSp>
        <p:nvGrpSpPr>
          <p:cNvPr id="8" name="Group 8"/>
          <p:cNvGrpSpPr/>
          <p:nvPr/>
        </p:nvGrpSpPr>
        <p:grpSpPr>
          <a:xfrm rot="-5400000">
            <a:off x="3473030" y="1669613"/>
            <a:ext cx="1052379" cy="2699927"/>
            <a:chOff x="0" y="0"/>
            <a:chExt cx="4224020" cy="10836915"/>
          </a:xfrm>
        </p:grpSpPr>
        <p:sp>
          <p:nvSpPr>
            <p:cNvPr id="9" name="Freeform 9"/>
            <p:cNvSpPr/>
            <p:nvPr/>
          </p:nvSpPr>
          <p:spPr>
            <a:xfrm>
              <a:off x="0" y="0"/>
              <a:ext cx="4224020" cy="10836915"/>
            </a:xfrm>
            <a:custGeom>
              <a:avLst/>
              <a:gdLst/>
              <a:ahLst/>
              <a:cxnLst/>
              <a:rect l="l" t="t" r="r" b="b"/>
              <a:pathLst>
                <a:path w="4224020" h="10836915">
                  <a:moveTo>
                    <a:pt x="4224020" y="10836915"/>
                  </a:moveTo>
                  <a:lnTo>
                    <a:pt x="2441575" y="10836915"/>
                  </a:lnTo>
                  <a:cubicBezTo>
                    <a:pt x="1093089" y="10836915"/>
                    <a:pt x="0" y="9743826"/>
                    <a:pt x="0" y="8395340"/>
                  </a:cubicBezTo>
                  <a:lnTo>
                    <a:pt x="0" y="0"/>
                  </a:lnTo>
                  <a:lnTo>
                    <a:pt x="1782445" y="0"/>
                  </a:lnTo>
                  <a:cubicBezTo>
                    <a:pt x="3130931" y="0"/>
                    <a:pt x="4224020" y="1093089"/>
                    <a:pt x="4224020" y="2441575"/>
                  </a:cubicBezTo>
                  <a:lnTo>
                    <a:pt x="4224020" y="10836915"/>
                  </a:lnTo>
                  <a:close/>
                </a:path>
              </a:pathLst>
            </a:custGeom>
            <a:solidFill>
              <a:srgbClr val="C0E4F6"/>
            </a:solidFill>
          </p:spPr>
        </p:sp>
      </p:grpSp>
      <p:grpSp>
        <p:nvGrpSpPr>
          <p:cNvPr id="10" name="Group 10"/>
          <p:cNvGrpSpPr/>
          <p:nvPr/>
        </p:nvGrpSpPr>
        <p:grpSpPr>
          <a:xfrm rot="-5400000">
            <a:off x="6721043" y="1669613"/>
            <a:ext cx="1052379" cy="2699927"/>
            <a:chOff x="0" y="0"/>
            <a:chExt cx="4224020" cy="10836915"/>
          </a:xfrm>
        </p:grpSpPr>
        <p:sp>
          <p:nvSpPr>
            <p:cNvPr id="11" name="Freeform 11"/>
            <p:cNvSpPr/>
            <p:nvPr/>
          </p:nvSpPr>
          <p:spPr>
            <a:xfrm>
              <a:off x="0" y="0"/>
              <a:ext cx="4224020" cy="10836915"/>
            </a:xfrm>
            <a:custGeom>
              <a:avLst/>
              <a:gdLst/>
              <a:ahLst/>
              <a:cxnLst/>
              <a:rect l="l" t="t" r="r" b="b"/>
              <a:pathLst>
                <a:path w="4224020" h="10836915">
                  <a:moveTo>
                    <a:pt x="4224020" y="10836915"/>
                  </a:moveTo>
                  <a:lnTo>
                    <a:pt x="2441575" y="10836915"/>
                  </a:lnTo>
                  <a:cubicBezTo>
                    <a:pt x="1093089" y="10836915"/>
                    <a:pt x="0" y="9743826"/>
                    <a:pt x="0" y="8395340"/>
                  </a:cubicBezTo>
                  <a:lnTo>
                    <a:pt x="0" y="0"/>
                  </a:lnTo>
                  <a:lnTo>
                    <a:pt x="1782445" y="0"/>
                  </a:lnTo>
                  <a:cubicBezTo>
                    <a:pt x="3130931" y="0"/>
                    <a:pt x="4224020" y="1093089"/>
                    <a:pt x="4224020" y="2441575"/>
                  </a:cubicBezTo>
                  <a:lnTo>
                    <a:pt x="4224020" y="10836915"/>
                  </a:lnTo>
                  <a:close/>
                </a:path>
              </a:pathLst>
            </a:custGeom>
            <a:solidFill>
              <a:srgbClr val="C0E4F6"/>
            </a:solidFill>
          </p:spPr>
        </p:sp>
      </p:grpSp>
      <p:grpSp>
        <p:nvGrpSpPr>
          <p:cNvPr id="12" name="Group 12"/>
          <p:cNvGrpSpPr/>
          <p:nvPr/>
        </p:nvGrpSpPr>
        <p:grpSpPr>
          <a:xfrm rot="-5400000">
            <a:off x="9969055" y="1669613"/>
            <a:ext cx="1052379" cy="2699927"/>
            <a:chOff x="0" y="0"/>
            <a:chExt cx="4224020" cy="10836915"/>
          </a:xfrm>
        </p:grpSpPr>
        <p:sp>
          <p:nvSpPr>
            <p:cNvPr id="13" name="Freeform 13"/>
            <p:cNvSpPr/>
            <p:nvPr/>
          </p:nvSpPr>
          <p:spPr>
            <a:xfrm>
              <a:off x="0" y="0"/>
              <a:ext cx="4224020" cy="10836915"/>
            </a:xfrm>
            <a:custGeom>
              <a:avLst/>
              <a:gdLst/>
              <a:ahLst/>
              <a:cxnLst/>
              <a:rect l="l" t="t" r="r" b="b"/>
              <a:pathLst>
                <a:path w="4224020" h="10836915">
                  <a:moveTo>
                    <a:pt x="4224020" y="10836915"/>
                  </a:moveTo>
                  <a:lnTo>
                    <a:pt x="2441575" y="10836915"/>
                  </a:lnTo>
                  <a:cubicBezTo>
                    <a:pt x="1093089" y="10836915"/>
                    <a:pt x="0" y="9743826"/>
                    <a:pt x="0" y="8395340"/>
                  </a:cubicBezTo>
                  <a:lnTo>
                    <a:pt x="0" y="0"/>
                  </a:lnTo>
                  <a:lnTo>
                    <a:pt x="1782445" y="0"/>
                  </a:lnTo>
                  <a:cubicBezTo>
                    <a:pt x="3130931" y="0"/>
                    <a:pt x="4224020" y="1093089"/>
                    <a:pt x="4224020" y="2441575"/>
                  </a:cubicBezTo>
                  <a:lnTo>
                    <a:pt x="4224020" y="10836915"/>
                  </a:lnTo>
                  <a:close/>
                </a:path>
              </a:pathLst>
            </a:custGeom>
            <a:solidFill>
              <a:srgbClr val="C0E4F6"/>
            </a:solidFill>
          </p:spPr>
        </p:sp>
      </p:grpSp>
      <p:grpSp>
        <p:nvGrpSpPr>
          <p:cNvPr id="14" name="Group 14"/>
          <p:cNvGrpSpPr/>
          <p:nvPr/>
        </p:nvGrpSpPr>
        <p:grpSpPr>
          <a:xfrm rot="-5400000">
            <a:off x="13214019" y="1669613"/>
            <a:ext cx="1052379" cy="2699927"/>
            <a:chOff x="0" y="0"/>
            <a:chExt cx="4224020" cy="10836915"/>
          </a:xfrm>
        </p:grpSpPr>
        <p:sp>
          <p:nvSpPr>
            <p:cNvPr id="15" name="Freeform 15"/>
            <p:cNvSpPr/>
            <p:nvPr/>
          </p:nvSpPr>
          <p:spPr>
            <a:xfrm>
              <a:off x="0" y="0"/>
              <a:ext cx="4224020" cy="10836915"/>
            </a:xfrm>
            <a:custGeom>
              <a:avLst/>
              <a:gdLst/>
              <a:ahLst/>
              <a:cxnLst/>
              <a:rect l="l" t="t" r="r" b="b"/>
              <a:pathLst>
                <a:path w="4224020" h="10836915">
                  <a:moveTo>
                    <a:pt x="4224020" y="10836915"/>
                  </a:moveTo>
                  <a:lnTo>
                    <a:pt x="2441575" y="10836915"/>
                  </a:lnTo>
                  <a:cubicBezTo>
                    <a:pt x="1093089" y="10836915"/>
                    <a:pt x="0" y="9743826"/>
                    <a:pt x="0" y="8395340"/>
                  </a:cubicBezTo>
                  <a:lnTo>
                    <a:pt x="0" y="0"/>
                  </a:lnTo>
                  <a:lnTo>
                    <a:pt x="1782445" y="0"/>
                  </a:lnTo>
                  <a:cubicBezTo>
                    <a:pt x="3130931" y="0"/>
                    <a:pt x="4224020" y="1093089"/>
                    <a:pt x="4224020" y="2441575"/>
                  </a:cubicBezTo>
                  <a:lnTo>
                    <a:pt x="4224020" y="10836915"/>
                  </a:lnTo>
                  <a:close/>
                </a:path>
              </a:pathLst>
            </a:custGeom>
            <a:solidFill>
              <a:srgbClr val="C0E4F6"/>
            </a:solidFill>
          </p:spPr>
        </p:sp>
      </p:grpSp>
      <p:sp>
        <p:nvSpPr>
          <p:cNvPr id="16" name="TextBox 16"/>
          <p:cNvSpPr txBox="1"/>
          <p:nvPr/>
        </p:nvSpPr>
        <p:spPr>
          <a:xfrm>
            <a:off x="2981259" y="2816264"/>
            <a:ext cx="2035922" cy="444723"/>
          </a:xfrm>
          <a:prstGeom prst="rect">
            <a:avLst/>
          </a:prstGeom>
        </p:spPr>
        <p:txBody>
          <a:bodyPr lIns="0" tIns="0" rIns="0" bIns="0" rtlCol="0" anchor="t">
            <a:spAutoFit/>
          </a:bodyPr>
          <a:lstStyle/>
          <a:p>
            <a:pPr marL="0" lvl="0" indent="0" algn="ctr">
              <a:lnSpc>
                <a:spcPts val="3490"/>
              </a:lnSpc>
            </a:pPr>
            <a:r>
              <a:rPr lang="en-US" sz="3172" b="1" spc="-63">
                <a:solidFill>
                  <a:srgbClr val="4A44BD"/>
                </a:solidFill>
                <a:latin typeface="Garet Bold"/>
                <a:ea typeface="Garet Bold"/>
                <a:cs typeface="Garet Bold"/>
                <a:sym typeface="Garet Bold"/>
              </a:rPr>
              <a:t>1.6M</a:t>
            </a:r>
          </a:p>
        </p:txBody>
      </p:sp>
      <p:sp>
        <p:nvSpPr>
          <p:cNvPr id="17" name="TextBox 17"/>
          <p:cNvSpPr txBox="1"/>
          <p:nvPr/>
        </p:nvSpPr>
        <p:spPr>
          <a:xfrm>
            <a:off x="2649257" y="3785901"/>
            <a:ext cx="2699927" cy="250199"/>
          </a:xfrm>
          <a:prstGeom prst="rect">
            <a:avLst/>
          </a:prstGeom>
        </p:spPr>
        <p:txBody>
          <a:bodyPr lIns="0" tIns="0" rIns="0" bIns="0" rtlCol="0" anchor="t">
            <a:spAutoFit/>
          </a:bodyPr>
          <a:lstStyle/>
          <a:p>
            <a:pPr marL="0" lvl="0" indent="0" algn="ctr">
              <a:lnSpc>
                <a:spcPts val="2062"/>
              </a:lnSpc>
            </a:pPr>
            <a:r>
              <a:rPr lang="en-US" sz="1473">
                <a:solidFill>
                  <a:srgbClr val="000000"/>
                </a:solidFill>
                <a:latin typeface="Open Sauce"/>
                <a:ea typeface="Open Sauce"/>
                <a:cs typeface="Open Sauce"/>
                <a:sym typeface="Open Sauce"/>
              </a:rPr>
              <a:t>Monthly Average</a:t>
            </a:r>
          </a:p>
        </p:txBody>
      </p:sp>
      <p:sp>
        <p:nvSpPr>
          <p:cNvPr id="18" name="TextBox 18"/>
          <p:cNvSpPr txBox="1"/>
          <p:nvPr/>
        </p:nvSpPr>
        <p:spPr>
          <a:xfrm>
            <a:off x="6229272" y="2816264"/>
            <a:ext cx="2035922" cy="444723"/>
          </a:xfrm>
          <a:prstGeom prst="rect">
            <a:avLst/>
          </a:prstGeom>
        </p:spPr>
        <p:txBody>
          <a:bodyPr lIns="0" tIns="0" rIns="0" bIns="0" rtlCol="0" anchor="t">
            <a:spAutoFit/>
          </a:bodyPr>
          <a:lstStyle/>
          <a:p>
            <a:pPr marL="0" lvl="0" indent="0" algn="ctr">
              <a:lnSpc>
                <a:spcPts val="3490"/>
              </a:lnSpc>
            </a:pPr>
            <a:r>
              <a:rPr lang="en-US" sz="3172" b="1" spc="-63">
                <a:solidFill>
                  <a:srgbClr val="4A44BD"/>
                </a:solidFill>
                <a:latin typeface="Garet Bold"/>
                <a:ea typeface="Garet Bold"/>
                <a:cs typeface="Garet Bold"/>
                <a:sym typeface="Garet Bold"/>
              </a:rPr>
              <a:t>5.6M</a:t>
            </a:r>
          </a:p>
        </p:txBody>
      </p:sp>
      <p:sp>
        <p:nvSpPr>
          <p:cNvPr id="19" name="TextBox 19"/>
          <p:cNvSpPr txBox="1"/>
          <p:nvPr/>
        </p:nvSpPr>
        <p:spPr>
          <a:xfrm>
            <a:off x="9477284" y="2816264"/>
            <a:ext cx="2035922" cy="444723"/>
          </a:xfrm>
          <a:prstGeom prst="rect">
            <a:avLst/>
          </a:prstGeom>
        </p:spPr>
        <p:txBody>
          <a:bodyPr lIns="0" tIns="0" rIns="0" bIns="0" rtlCol="0" anchor="t">
            <a:spAutoFit/>
          </a:bodyPr>
          <a:lstStyle/>
          <a:p>
            <a:pPr marL="0" lvl="0" indent="0" algn="ctr">
              <a:lnSpc>
                <a:spcPts val="3490"/>
              </a:lnSpc>
            </a:pPr>
            <a:r>
              <a:rPr lang="en-US" sz="3172" b="1" spc="-63">
                <a:solidFill>
                  <a:srgbClr val="4A44BD"/>
                </a:solidFill>
                <a:latin typeface="Garet Bold"/>
                <a:ea typeface="Garet Bold"/>
                <a:cs typeface="Garet Bold"/>
                <a:sym typeface="Garet Bold"/>
              </a:rPr>
              <a:t>7.0M</a:t>
            </a:r>
          </a:p>
        </p:txBody>
      </p:sp>
      <p:sp>
        <p:nvSpPr>
          <p:cNvPr id="20" name="TextBox 20"/>
          <p:cNvSpPr txBox="1"/>
          <p:nvPr/>
        </p:nvSpPr>
        <p:spPr>
          <a:xfrm>
            <a:off x="5897269" y="3785901"/>
            <a:ext cx="2699927" cy="250199"/>
          </a:xfrm>
          <a:prstGeom prst="rect">
            <a:avLst/>
          </a:prstGeom>
        </p:spPr>
        <p:txBody>
          <a:bodyPr lIns="0" tIns="0" rIns="0" bIns="0" rtlCol="0" anchor="t">
            <a:spAutoFit/>
          </a:bodyPr>
          <a:lstStyle/>
          <a:p>
            <a:pPr marL="0" lvl="0" indent="0" algn="ctr">
              <a:lnSpc>
                <a:spcPts val="2062"/>
              </a:lnSpc>
            </a:pPr>
            <a:r>
              <a:rPr lang="en-US" sz="1473">
                <a:solidFill>
                  <a:srgbClr val="000000"/>
                </a:solidFill>
                <a:latin typeface="Open Sauce"/>
                <a:ea typeface="Open Sauce"/>
                <a:cs typeface="Open Sauce"/>
                <a:sym typeface="Open Sauce"/>
              </a:rPr>
              <a:t>Before 5G</a:t>
            </a:r>
          </a:p>
        </p:txBody>
      </p:sp>
      <p:sp>
        <p:nvSpPr>
          <p:cNvPr id="21" name="TextBox 21"/>
          <p:cNvSpPr txBox="1"/>
          <p:nvPr/>
        </p:nvSpPr>
        <p:spPr>
          <a:xfrm>
            <a:off x="9145282" y="3785901"/>
            <a:ext cx="2699927" cy="250199"/>
          </a:xfrm>
          <a:prstGeom prst="rect">
            <a:avLst/>
          </a:prstGeom>
        </p:spPr>
        <p:txBody>
          <a:bodyPr lIns="0" tIns="0" rIns="0" bIns="0" rtlCol="0" anchor="t">
            <a:spAutoFit/>
          </a:bodyPr>
          <a:lstStyle/>
          <a:p>
            <a:pPr marL="0" lvl="0" indent="0" algn="ctr">
              <a:lnSpc>
                <a:spcPts val="2062"/>
              </a:lnSpc>
            </a:pPr>
            <a:r>
              <a:rPr lang="en-US" sz="1473">
                <a:solidFill>
                  <a:srgbClr val="000000"/>
                </a:solidFill>
                <a:latin typeface="Open Sauce"/>
                <a:ea typeface="Open Sauce"/>
                <a:cs typeface="Open Sauce"/>
                <a:sym typeface="Open Sauce"/>
              </a:rPr>
              <a:t>After 5G</a:t>
            </a:r>
          </a:p>
        </p:txBody>
      </p:sp>
      <p:sp>
        <p:nvSpPr>
          <p:cNvPr id="22" name="TextBox 22"/>
          <p:cNvSpPr txBox="1"/>
          <p:nvPr/>
        </p:nvSpPr>
        <p:spPr>
          <a:xfrm>
            <a:off x="3639166" y="1531362"/>
            <a:ext cx="9916060" cy="409575"/>
          </a:xfrm>
          <a:prstGeom prst="rect">
            <a:avLst/>
          </a:prstGeom>
        </p:spPr>
        <p:txBody>
          <a:bodyPr lIns="0" tIns="0" rIns="0" bIns="0" rtlCol="0" anchor="t">
            <a:spAutoFit/>
          </a:bodyPr>
          <a:lstStyle/>
          <a:p>
            <a:pPr marL="0" lvl="0" indent="0" algn="ctr">
              <a:lnSpc>
                <a:spcPts val="3299"/>
              </a:lnSpc>
            </a:pPr>
            <a:r>
              <a:rPr lang="en-US" sz="2999" b="1">
                <a:solidFill>
                  <a:srgbClr val="4A44BD"/>
                </a:solidFill>
                <a:latin typeface="Garet Bold"/>
                <a:ea typeface="Garet Bold"/>
                <a:cs typeface="Garet Bold"/>
                <a:sym typeface="Garet Bold"/>
              </a:rPr>
              <a:t>Most Underperforming KPI After the 5G Launch</a:t>
            </a:r>
          </a:p>
        </p:txBody>
      </p:sp>
      <p:sp>
        <p:nvSpPr>
          <p:cNvPr id="23" name="TextBox 23"/>
          <p:cNvSpPr txBox="1"/>
          <p:nvPr/>
        </p:nvSpPr>
        <p:spPr>
          <a:xfrm>
            <a:off x="12722248" y="2816264"/>
            <a:ext cx="2035922" cy="444723"/>
          </a:xfrm>
          <a:prstGeom prst="rect">
            <a:avLst/>
          </a:prstGeom>
        </p:spPr>
        <p:txBody>
          <a:bodyPr lIns="0" tIns="0" rIns="0" bIns="0" rtlCol="0" anchor="t">
            <a:spAutoFit/>
          </a:bodyPr>
          <a:lstStyle/>
          <a:p>
            <a:pPr marL="0" lvl="0" indent="0" algn="ctr">
              <a:lnSpc>
                <a:spcPts val="3490"/>
              </a:lnSpc>
            </a:pPr>
            <a:r>
              <a:rPr lang="en-US" sz="3172" b="1" spc="-63">
                <a:solidFill>
                  <a:srgbClr val="4A44BD"/>
                </a:solidFill>
                <a:latin typeface="Garet Bold"/>
                <a:ea typeface="Garet Bold"/>
                <a:cs typeface="Garet Bold"/>
                <a:sym typeface="Garet Bold"/>
              </a:rPr>
              <a:t>23.50%</a:t>
            </a:r>
          </a:p>
        </p:txBody>
      </p:sp>
      <p:sp>
        <p:nvSpPr>
          <p:cNvPr id="24" name="TextBox 24"/>
          <p:cNvSpPr txBox="1"/>
          <p:nvPr/>
        </p:nvSpPr>
        <p:spPr>
          <a:xfrm>
            <a:off x="12390246" y="3785901"/>
            <a:ext cx="2699927" cy="250199"/>
          </a:xfrm>
          <a:prstGeom prst="rect">
            <a:avLst/>
          </a:prstGeom>
        </p:spPr>
        <p:txBody>
          <a:bodyPr lIns="0" tIns="0" rIns="0" bIns="0" rtlCol="0" anchor="t">
            <a:spAutoFit/>
          </a:bodyPr>
          <a:lstStyle/>
          <a:p>
            <a:pPr marL="0" lvl="0" indent="0" algn="ctr">
              <a:lnSpc>
                <a:spcPts val="2062"/>
              </a:lnSpc>
            </a:pPr>
            <a:r>
              <a:rPr lang="en-US" sz="1473">
                <a:solidFill>
                  <a:srgbClr val="000000"/>
                </a:solidFill>
                <a:latin typeface="Open Sauce"/>
                <a:ea typeface="Open Sauce"/>
                <a:cs typeface="Open Sauce"/>
                <a:sym typeface="Open Sauce"/>
              </a:rPr>
              <a:t>Chg %</a:t>
            </a:r>
          </a:p>
        </p:txBody>
      </p:sp>
      <p:sp>
        <p:nvSpPr>
          <p:cNvPr id="25" name="TextBox 25"/>
          <p:cNvSpPr txBox="1"/>
          <p:nvPr/>
        </p:nvSpPr>
        <p:spPr>
          <a:xfrm>
            <a:off x="2211495" y="4995019"/>
            <a:ext cx="13867573" cy="2681224"/>
          </a:xfrm>
          <a:prstGeom prst="rect">
            <a:avLst/>
          </a:prstGeom>
        </p:spPr>
        <p:txBody>
          <a:bodyPr lIns="0" tIns="0" rIns="0" bIns="0" rtlCol="0" anchor="t">
            <a:spAutoFit/>
          </a:bodyPr>
          <a:lstStyle/>
          <a:p>
            <a:pPr marL="385732" lvl="1" indent="-192866" algn="l">
              <a:lnSpc>
                <a:spcPts val="3626"/>
              </a:lnSpc>
              <a:buFont typeface="Arial"/>
              <a:buChar char="•"/>
            </a:pPr>
            <a:r>
              <a:rPr lang="en-US" sz="1786" dirty="0">
                <a:solidFill>
                  <a:srgbClr val="000000"/>
                </a:solidFill>
                <a:latin typeface="Open Sauce"/>
                <a:ea typeface="Open Sauce"/>
                <a:cs typeface="Open Sauce"/>
                <a:sym typeface="Open Sauce"/>
              </a:rPr>
              <a:t>Unsubscribed Users (</a:t>
            </a:r>
            <a:r>
              <a:rPr lang="en-US" sz="1786" dirty="0" err="1">
                <a:solidFill>
                  <a:srgbClr val="000000"/>
                </a:solidFill>
                <a:latin typeface="Open Sauce"/>
                <a:ea typeface="Open Sauce"/>
                <a:cs typeface="Open Sauce"/>
                <a:sym typeface="Open Sauce"/>
              </a:rPr>
              <a:t>TuSU</a:t>
            </a:r>
            <a:r>
              <a:rPr lang="en-US" sz="1786" dirty="0">
                <a:solidFill>
                  <a:srgbClr val="000000"/>
                </a:solidFill>
                <a:latin typeface="Open Sauce"/>
                <a:ea typeface="Open Sauce"/>
                <a:cs typeface="Open Sauce"/>
                <a:sym typeface="Open Sauce"/>
              </a:rPr>
              <a:t>) is the most underperforming KPI post-5G.</a:t>
            </a:r>
          </a:p>
          <a:p>
            <a:pPr marL="385732" lvl="1" indent="-192866" algn="l">
              <a:lnSpc>
                <a:spcPts val="3626"/>
              </a:lnSpc>
              <a:buFont typeface="Arial"/>
              <a:buChar char="•"/>
            </a:pPr>
            <a:r>
              <a:rPr lang="en-US" sz="1786" dirty="0">
                <a:solidFill>
                  <a:srgbClr val="000000"/>
                </a:solidFill>
                <a:latin typeface="Open Sauce"/>
                <a:ea typeface="Open Sauce"/>
                <a:cs typeface="Open Sauce"/>
                <a:sym typeface="Open Sauce"/>
              </a:rPr>
              <a:t>Unsubscribed users increased significantly after 5G, rising from 5.6M to 7.0M (+23.50%).</a:t>
            </a:r>
          </a:p>
          <a:p>
            <a:pPr marL="385732" lvl="1" indent="-192866" algn="l">
              <a:lnSpc>
                <a:spcPts val="3626"/>
              </a:lnSpc>
              <a:buFont typeface="Arial"/>
              <a:buChar char="•"/>
            </a:pPr>
            <a:r>
              <a:rPr lang="en-US" sz="1786" dirty="0">
                <a:solidFill>
                  <a:srgbClr val="000000"/>
                </a:solidFill>
                <a:latin typeface="Open Sauce"/>
                <a:ea typeface="Open Sauce"/>
                <a:cs typeface="Open Sauce"/>
                <a:sym typeface="Open Sauce"/>
              </a:rPr>
              <a:t>This is the largest negative change across all KPIs.</a:t>
            </a:r>
          </a:p>
          <a:p>
            <a:pPr marL="385732" lvl="1" indent="-192866" algn="l">
              <a:lnSpc>
                <a:spcPts val="3626"/>
              </a:lnSpc>
              <a:buFont typeface="Arial"/>
              <a:buChar char="•"/>
            </a:pPr>
            <a:r>
              <a:rPr lang="en-US" sz="1786" dirty="0">
                <a:solidFill>
                  <a:srgbClr val="000000"/>
                </a:solidFill>
                <a:latin typeface="Open Sauce"/>
                <a:ea typeface="Open Sauce"/>
                <a:cs typeface="Open Sauce"/>
                <a:sym typeface="Open Sauce"/>
              </a:rPr>
              <a:t>Extremely high churn is observed in Lucknow (+77.91%), Pune (+55.30%), Jaipur (+52.47%), and Chandigarh (+45.63%).</a:t>
            </a:r>
          </a:p>
          <a:p>
            <a:pPr marL="385732" lvl="1" indent="-192866" algn="l">
              <a:lnSpc>
                <a:spcPts val="3626"/>
              </a:lnSpc>
              <a:buFont typeface="Arial"/>
              <a:buChar char="•"/>
            </a:pPr>
            <a:r>
              <a:rPr lang="en-US" sz="1786" dirty="0">
                <a:solidFill>
                  <a:srgbClr val="000000"/>
                </a:solidFill>
                <a:latin typeface="Open Sauce"/>
                <a:ea typeface="Open Sauce"/>
                <a:cs typeface="Open Sauce"/>
                <a:sym typeface="Open Sauce"/>
              </a:rPr>
              <a:t>Mumbai (–12.63%) is the only city to record a decline in churn.</a:t>
            </a:r>
          </a:p>
          <a:p>
            <a:pPr marL="385732" lvl="1" indent="-192866" algn="l">
              <a:lnSpc>
                <a:spcPts val="3626"/>
              </a:lnSpc>
              <a:buFont typeface="Arial"/>
              <a:buChar char="•"/>
            </a:pPr>
            <a:r>
              <a:rPr lang="en-US" sz="1786" dirty="0">
                <a:solidFill>
                  <a:srgbClr val="000000"/>
                </a:solidFill>
                <a:latin typeface="Open Sauce"/>
                <a:ea typeface="Open Sauce"/>
                <a:cs typeface="Open Sauce"/>
                <a:sym typeface="Open Sauce"/>
              </a:rPr>
              <a:t>The overall upward trend in churn indicates customer dissatisfaction or competitive switching following the 5G rollout.</a:t>
            </a: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92702" y="9268371"/>
            <a:ext cx="6486365" cy="1018629"/>
            <a:chOff x="0" y="0"/>
            <a:chExt cx="1708343" cy="268281"/>
          </a:xfrm>
        </p:grpSpPr>
        <p:sp>
          <p:nvSpPr>
            <p:cNvPr id="3" name="Freeform 3"/>
            <p:cNvSpPr/>
            <p:nvPr/>
          </p:nvSpPr>
          <p:spPr>
            <a:xfrm>
              <a:off x="0" y="0"/>
              <a:ext cx="1708343" cy="268281"/>
            </a:xfrm>
            <a:custGeom>
              <a:avLst/>
              <a:gdLst/>
              <a:ahLst/>
              <a:cxnLst/>
              <a:rect l="l" t="t" r="r" b="b"/>
              <a:pathLst>
                <a:path w="1708343" h="268281">
                  <a:moveTo>
                    <a:pt x="119357" y="0"/>
                  </a:moveTo>
                  <a:lnTo>
                    <a:pt x="1588986" y="0"/>
                  </a:lnTo>
                  <a:cubicBezTo>
                    <a:pt x="1654905" y="0"/>
                    <a:pt x="1708343" y="53438"/>
                    <a:pt x="1708343" y="119357"/>
                  </a:cubicBezTo>
                  <a:lnTo>
                    <a:pt x="1708343" y="148924"/>
                  </a:lnTo>
                  <a:cubicBezTo>
                    <a:pt x="1708343" y="180580"/>
                    <a:pt x="1695768" y="210938"/>
                    <a:pt x="1673384" y="233322"/>
                  </a:cubicBezTo>
                  <a:cubicBezTo>
                    <a:pt x="1651000" y="255706"/>
                    <a:pt x="1620642" y="268281"/>
                    <a:pt x="1588986" y="268281"/>
                  </a:cubicBezTo>
                  <a:lnTo>
                    <a:pt x="119357" y="268281"/>
                  </a:lnTo>
                  <a:cubicBezTo>
                    <a:pt x="53438" y="268281"/>
                    <a:pt x="0" y="214843"/>
                    <a:pt x="0" y="148924"/>
                  </a:cubicBezTo>
                  <a:lnTo>
                    <a:pt x="0" y="119357"/>
                  </a:lnTo>
                  <a:cubicBezTo>
                    <a:pt x="0" y="53438"/>
                    <a:pt x="53438" y="0"/>
                    <a:pt x="119357" y="0"/>
                  </a:cubicBezTo>
                  <a:close/>
                </a:path>
              </a:pathLst>
            </a:custGeom>
            <a:solidFill>
              <a:srgbClr val="C0E4F6"/>
            </a:solidFill>
          </p:spPr>
        </p:sp>
        <p:sp>
          <p:nvSpPr>
            <p:cNvPr id="4" name="TextBox 4"/>
            <p:cNvSpPr txBox="1"/>
            <p:nvPr/>
          </p:nvSpPr>
          <p:spPr>
            <a:xfrm>
              <a:off x="0" y="-28575"/>
              <a:ext cx="1708343" cy="296856"/>
            </a:xfrm>
            <a:prstGeom prst="rect">
              <a:avLst/>
            </a:prstGeom>
          </p:spPr>
          <p:txBody>
            <a:bodyPr lIns="50800" tIns="50800" rIns="50800" bIns="50800" rtlCol="0" anchor="ctr"/>
            <a:lstStyle/>
            <a:p>
              <a:pPr algn="ctr">
                <a:lnSpc>
                  <a:spcPts val="2100"/>
                </a:lnSpc>
              </a:pPr>
              <a:endParaRPr/>
            </a:p>
          </p:txBody>
        </p:sp>
      </p:grpSp>
      <p:grpSp>
        <p:nvGrpSpPr>
          <p:cNvPr id="5" name="Group 5"/>
          <p:cNvGrpSpPr/>
          <p:nvPr/>
        </p:nvGrpSpPr>
        <p:grpSpPr>
          <a:xfrm>
            <a:off x="3310361" y="9681230"/>
            <a:ext cx="15903157" cy="640680"/>
            <a:chOff x="0" y="0"/>
            <a:chExt cx="4188486" cy="168739"/>
          </a:xfrm>
        </p:grpSpPr>
        <p:sp>
          <p:nvSpPr>
            <p:cNvPr id="6" name="Freeform 6"/>
            <p:cNvSpPr/>
            <p:nvPr/>
          </p:nvSpPr>
          <p:spPr>
            <a:xfrm>
              <a:off x="0" y="0"/>
              <a:ext cx="4188486" cy="168739"/>
            </a:xfrm>
            <a:custGeom>
              <a:avLst/>
              <a:gdLst/>
              <a:ahLst/>
              <a:cxnLst/>
              <a:rect l="l" t="t" r="r" b="b"/>
              <a:pathLst>
                <a:path w="4188486" h="168739">
                  <a:moveTo>
                    <a:pt x="203200" y="0"/>
                  </a:moveTo>
                  <a:lnTo>
                    <a:pt x="4188486" y="0"/>
                  </a:lnTo>
                  <a:lnTo>
                    <a:pt x="3985286" y="168739"/>
                  </a:lnTo>
                  <a:lnTo>
                    <a:pt x="0" y="168739"/>
                  </a:lnTo>
                  <a:lnTo>
                    <a:pt x="203200" y="0"/>
                  </a:lnTo>
                  <a:close/>
                </a:path>
              </a:pathLst>
            </a:custGeom>
            <a:solidFill>
              <a:srgbClr val="4A44BD"/>
            </a:solidFill>
          </p:spPr>
        </p:sp>
        <p:sp>
          <p:nvSpPr>
            <p:cNvPr id="7" name="TextBox 7"/>
            <p:cNvSpPr txBox="1"/>
            <p:nvPr/>
          </p:nvSpPr>
          <p:spPr>
            <a:xfrm>
              <a:off x="101600" y="-28575"/>
              <a:ext cx="3985286" cy="197314"/>
            </a:xfrm>
            <a:prstGeom prst="rect">
              <a:avLst/>
            </a:prstGeom>
          </p:spPr>
          <p:txBody>
            <a:bodyPr lIns="50800" tIns="50800" rIns="50800" bIns="50800" rtlCol="0" anchor="ctr"/>
            <a:lstStyle/>
            <a:p>
              <a:pPr algn="ctr">
                <a:lnSpc>
                  <a:spcPts val="2100"/>
                </a:lnSpc>
              </a:pPr>
              <a:endParaRPr/>
            </a:p>
          </p:txBody>
        </p:sp>
      </p:grpSp>
      <p:sp>
        <p:nvSpPr>
          <p:cNvPr id="8" name="Freeform 8"/>
          <p:cNvSpPr/>
          <p:nvPr/>
        </p:nvSpPr>
        <p:spPr>
          <a:xfrm>
            <a:off x="11261939" y="3151787"/>
            <a:ext cx="6332324" cy="4385638"/>
          </a:xfrm>
          <a:custGeom>
            <a:avLst/>
            <a:gdLst/>
            <a:ahLst/>
            <a:cxnLst/>
            <a:rect l="l" t="t" r="r" b="b"/>
            <a:pathLst>
              <a:path w="6332324" h="4385638">
                <a:moveTo>
                  <a:pt x="0" y="0"/>
                </a:moveTo>
                <a:lnTo>
                  <a:pt x="6332324" y="0"/>
                </a:lnTo>
                <a:lnTo>
                  <a:pt x="6332324" y="4385638"/>
                </a:lnTo>
                <a:lnTo>
                  <a:pt x="0" y="4385638"/>
                </a:lnTo>
                <a:lnTo>
                  <a:pt x="0" y="0"/>
                </a:lnTo>
                <a:close/>
              </a:path>
            </a:pathLst>
          </a:custGeom>
          <a:blipFill>
            <a:blip r:embed="rId3"/>
            <a:stretch>
              <a:fillRect/>
            </a:stretch>
          </a:blipFill>
        </p:spPr>
      </p:sp>
      <p:sp>
        <p:nvSpPr>
          <p:cNvPr id="9" name="TextBox 9"/>
          <p:cNvSpPr txBox="1"/>
          <p:nvPr/>
        </p:nvSpPr>
        <p:spPr>
          <a:xfrm>
            <a:off x="3639166" y="1531362"/>
            <a:ext cx="9916060" cy="409575"/>
          </a:xfrm>
          <a:prstGeom prst="rect">
            <a:avLst/>
          </a:prstGeom>
        </p:spPr>
        <p:txBody>
          <a:bodyPr lIns="0" tIns="0" rIns="0" bIns="0" rtlCol="0" anchor="t">
            <a:spAutoFit/>
          </a:bodyPr>
          <a:lstStyle/>
          <a:p>
            <a:pPr marL="0" lvl="0" indent="0" algn="ctr">
              <a:lnSpc>
                <a:spcPts val="3299"/>
              </a:lnSpc>
            </a:pPr>
            <a:r>
              <a:rPr lang="en-US" sz="2999" b="1">
                <a:solidFill>
                  <a:srgbClr val="4A44BD"/>
                </a:solidFill>
                <a:latin typeface="Garet Bold"/>
                <a:ea typeface="Garet Bold"/>
                <a:cs typeface="Garet Bold"/>
                <a:sym typeface="Garet Bold"/>
              </a:rPr>
              <a:t>Plan-Wise Revenue Analysis</a:t>
            </a:r>
          </a:p>
        </p:txBody>
      </p:sp>
      <p:sp>
        <p:nvSpPr>
          <p:cNvPr id="10" name="TextBox 10"/>
          <p:cNvSpPr txBox="1"/>
          <p:nvPr/>
        </p:nvSpPr>
        <p:spPr>
          <a:xfrm>
            <a:off x="906720" y="2355542"/>
            <a:ext cx="10227062" cy="5938933"/>
          </a:xfrm>
          <a:prstGeom prst="rect">
            <a:avLst/>
          </a:prstGeom>
        </p:spPr>
        <p:txBody>
          <a:bodyPr lIns="0" tIns="0" rIns="0" bIns="0" rtlCol="0" anchor="t">
            <a:spAutoFit/>
          </a:bodyPr>
          <a:lstStyle/>
          <a:p>
            <a:pPr algn="l">
              <a:lnSpc>
                <a:spcPts val="3626"/>
              </a:lnSpc>
            </a:pPr>
            <a:r>
              <a:rPr lang="en-US" sz="1786" b="1" dirty="0">
                <a:solidFill>
                  <a:srgbClr val="000000"/>
                </a:solidFill>
                <a:latin typeface="Open Sauce Bold"/>
                <a:ea typeface="Open Sauce Bold"/>
                <a:cs typeface="Open Sauce Bold"/>
                <a:sym typeface="Open Sauce Bold"/>
              </a:rPr>
              <a:t>Plans Performing Well After the 5G Launch</a:t>
            </a:r>
          </a:p>
          <a:p>
            <a:pPr marL="385731" lvl="1" indent="-192866" algn="l">
              <a:lnSpc>
                <a:spcPts val="3626"/>
              </a:lnSpc>
              <a:buFont typeface="Arial"/>
              <a:buChar char="•"/>
            </a:pPr>
            <a:r>
              <a:rPr lang="en-US" sz="1786" dirty="0">
                <a:solidFill>
                  <a:srgbClr val="000000"/>
                </a:solidFill>
                <a:latin typeface="Open Sauce"/>
                <a:ea typeface="Open Sauce"/>
                <a:cs typeface="Open Sauce"/>
                <a:sym typeface="Open Sauce"/>
              </a:rPr>
              <a:t>p1, p2, and p3 show strong revenue performance with consistent monthly growth.</a:t>
            </a:r>
          </a:p>
          <a:p>
            <a:pPr marL="385731" lvl="1" indent="-192866" algn="l">
              <a:lnSpc>
                <a:spcPts val="3626"/>
              </a:lnSpc>
              <a:buFont typeface="Arial"/>
              <a:buChar char="•"/>
            </a:pPr>
            <a:r>
              <a:rPr lang="en-US" sz="1786" dirty="0">
                <a:solidFill>
                  <a:srgbClr val="000000"/>
                </a:solidFill>
                <a:latin typeface="Open Sauce"/>
                <a:ea typeface="Open Sauce"/>
                <a:cs typeface="Open Sauce"/>
                <a:sym typeface="Open Sauce"/>
              </a:rPr>
              <a:t>p1 leads overall with the highest post-5G revenue (₹2.4bn).</a:t>
            </a:r>
          </a:p>
          <a:p>
            <a:pPr marL="385731" lvl="1" indent="-192866" algn="l">
              <a:lnSpc>
                <a:spcPts val="3626"/>
              </a:lnSpc>
              <a:buFont typeface="Arial"/>
              <a:buChar char="•"/>
            </a:pPr>
            <a:r>
              <a:rPr lang="en-US" sz="1786" dirty="0">
                <a:solidFill>
                  <a:srgbClr val="000000"/>
                </a:solidFill>
                <a:latin typeface="Open Sauce"/>
                <a:ea typeface="Open Sauce"/>
                <a:cs typeface="Open Sauce"/>
                <a:sym typeface="Open Sauce"/>
              </a:rPr>
              <a:t>p11 also performs well with noticeable spikes in monthly revenue after the 5G rollout.</a:t>
            </a:r>
          </a:p>
          <a:p>
            <a:pPr marL="385731" lvl="1" indent="-192866" algn="l">
              <a:lnSpc>
                <a:spcPts val="3626"/>
              </a:lnSpc>
              <a:buFont typeface="Arial"/>
              <a:buChar char="•"/>
            </a:pPr>
            <a:r>
              <a:rPr lang="en-US" sz="1786" dirty="0">
                <a:solidFill>
                  <a:srgbClr val="000000"/>
                </a:solidFill>
                <a:latin typeface="Open Sauce"/>
                <a:ea typeface="Open Sauce"/>
                <a:cs typeface="Open Sauce"/>
                <a:sym typeface="Open Sauce"/>
              </a:rPr>
              <a:t>These plans benefit from higher data usage and customer upgrades to 5G-ready offerings.</a:t>
            </a:r>
          </a:p>
          <a:p>
            <a:pPr algn="l">
              <a:lnSpc>
                <a:spcPts val="3626"/>
              </a:lnSpc>
            </a:pPr>
            <a:r>
              <a:rPr lang="en-US" sz="1786" dirty="0">
                <a:solidFill>
                  <a:srgbClr val="000000"/>
                </a:solidFill>
                <a:latin typeface="Open Sauce"/>
                <a:ea typeface="Open Sauce"/>
                <a:cs typeface="Open Sauce"/>
                <a:sym typeface="Open Sauce"/>
              </a:rPr>
              <a:t> </a:t>
            </a:r>
            <a:r>
              <a:rPr lang="en-US" sz="1786" b="1" dirty="0">
                <a:solidFill>
                  <a:srgbClr val="000000"/>
                </a:solidFill>
                <a:latin typeface="Open Sauce Bold"/>
                <a:ea typeface="Open Sauce Bold"/>
                <a:cs typeface="Open Sauce Bold"/>
                <a:sym typeface="Open Sauce Bold"/>
              </a:rPr>
              <a:t>Plans Not Performing Well After the 5G Launch</a:t>
            </a:r>
          </a:p>
          <a:p>
            <a:pPr marL="385731" lvl="1" indent="-192866" algn="l">
              <a:lnSpc>
                <a:spcPts val="3626"/>
              </a:lnSpc>
              <a:buFont typeface="Arial"/>
              <a:buChar char="•"/>
            </a:pPr>
            <a:r>
              <a:rPr lang="en-US" sz="1786" dirty="0">
                <a:solidFill>
                  <a:srgbClr val="000000"/>
                </a:solidFill>
                <a:latin typeface="Open Sauce"/>
                <a:ea typeface="Open Sauce"/>
                <a:cs typeface="Open Sauce"/>
                <a:sym typeface="Open Sauce"/>
              </a:rPr>
              <a:t>p4, p5, and p6 show moderate but declining or stagnant revenue trends after 5G.</a:t>
            </a:r>
          </a:p>
          <a:p>
            <a:pPr marL="385731" lvl="1" indent="-192866" algn="l">
              <a:lnSpc>
                <a:spcPts val="3626"/>
              </a:lnSpc>
              <a:buFont typeface="Arial"/>
              <a:buChar char="•"/>
            </a:pPr>
            <a:r>
              <a:rPr lang="en-US" sz="1786" dirty="0">
                <a:solidFill>
                  <a:srgbClr val="000000"/>
                </a:solidFill>
                <a:latin typeface="Open Sauce"/>
                <a:ea typeface="Open Sauce"/>
                <a:cs typeface="Open Sauce"/>
                <a:sym typeface="Open Sauce"/>
              </a:rPr>
              <a:t>Lower-revenue plans such as p7, and p13 remain weak with minimal contribution.</a:t>
            </a:r>
          </a:p>
          <a:p>
            <a:pPr marL="385731" lvl="1" indent="-192866" algn="l">
              <a:lnSpc>
                <a:spcPts val="3626"/>
              </a:lnSpc>
              <a:buFont typeface="Arial"/>
              <a:buChar char="•"/>
            </a:pPr>
            <a:r>
              <a:rPr lang="en-US" sz="1786" dirty="0">
                <a:solidFill>
                  <a:srgbClr val="000000"/>
                </a:solidFill>
                <a:latin typeface="Open Sauce"/>
                <a:ea typeface="Open Sauce"/>
                <a:cs typeface="Open Sauce"/>
                <a:sym typeface="Open Sauce"/>
              </a:rPr>
              <a:t>Plans p9, p10, and p13 are the poorest performers, showing consistently low monthly values.</a:t>
            </a:r>
          </a:p>
          <a:p>
            <a:pPr marL="385731" lvl="1" indent="-192866" algn="l">
              <a:lnSpc>
                <a:spcPts val="3626"/>
              </a:lnSpc>
              <a:buFont typeface="Arial"/>
              <a:buChar char="•"/>
            </a:pPr>
            <a:r>
              <a:rPr lang="en-US" sz="1786" dirty="0">
                <a:solidFill>
                  <a:srgbClr val="000000"/>
                </a:solidFill>
                <a:latin typeface="Open Sauce"/>
                <a:ea typeface="Open Sauce"/>
                <a:cs typeface="Open Sauce"/>
                <a:sym typeface="Open Sauce"/>
              </a:rPr>
              <a:t>These underperforming plans may require redesign, repositioning, or discontinuation.</a:t>
            </a:r>
          </a:p>
          <a:p>
            <a:pPr algn="l">
              <a:lnSpc>
                <a:spcPts val="3626"/>
              </a:lnSpc>
            </a:pPr>
            <a:endParaRPr lang="en-US" sz="1786" dirty="0">
              <a:solidFill>
                <a:srgbClr val="000000"/>
              </a:solidFill>
              <a:latin typeface="Open Sauce"/>
              <a:ea typeface="Open Sauce"/>
              <a:cs typeface="Open Sauce"/>
              <a:sym typeface="Open Sauce"/>
            </a:endParaRPr>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92702" y="9268371"/>
            <a:ext cx="6486365" cy="1018629"/>
            <a:chOff x="0" y="0"/>
            <a:chExt cx="1708343" cy="268281"/>
          </a:xfrm>
        </p:grpSpPr>
        <p:sp>
          <p:nvSpPr>
            <p:cNvPr id="3" name="Freeform 3"/>
            <p:cNvSpPr/>
            <p:nvPr/>
          </p:nvSpPr>
          <p:spPr>
            <a:xfrm>
              <a:off x="0" y="0"/>
              <a:ext cx="1708343" cy="268281"/>
            </a:xfrm>
            <a:custGeom>
              <a:avLst/>
              <a:gdLst/>
              <a:ahLst/>
              <a:cxnLst/>
              <a:rect l="l" t="t" r="r" b="b"/>
              <a:pathLst>
                <a:path w="1708343" h="268281">
                  <a:moveTo>
                    <a:pt x="119357" y="0"/>
                  </a:moveTo>
                  <a:lnTo>
                    <a:pt x="1588986" y="0"/>
                  </a:lnTo>
                  <a:cubicBezTo>
                    <a:pt x="1654905" y="0"/>
                    <a:pt x="1708343" y="53438"/>
                    <a:pt x="1708343" y="119357"/>
                  </a:cubicBezTo>
                  <a:lnTo>
                    <a:pt x="1708343" y="148924"/>
                  </a:lnTo>
                  <a:cubicBezTo>
                    <a:pt x="1708343" y="180580"/>
                    <a:pt x="1695768" y="210938"/>
                    <a:pt x="1673384" y="233322"/>
                  </a:cubicBezTo>
                  <a:cubicBezTo>
                    <a:pt x="1651000" y="255706"/>
                    <a:pt x="1620642" y="268281"/>
                    <a:pt x="1588986" y="268281"/>
                  </a:cubicBezTo>
                  <a:lnTo>
                    <a:pt x="119357" y="268281"/>
                  </a:lnTo>
                  <a:cubicBezTo>
                    <a:pt x="53438" y="268281"/>
                    <a:pt x="0" y="214843"/>
                    <a:pt x="0" y="148924"/>
                  </a:cubicBezTo>
                  <a:lnTo>
                    <a:pt x="0" y="119357"/>
                  </a:lnTo>
                  <a:cubicBezTo>
                    <a:pt x="0" y="53438"/>
                    <a:pt x="53438" y="0"/>
                    <a:pt x="119357" y="0"/>
                  </a:cubicBezTo>
                  <a:close/>
                </a:path>
              </a:pathLst>
            </a:custGeom>
            <a:solidFill>
              <a:srgbClr val="C0E4F6"/>
            </a:solidFill>
          </p:spPr>
        </p:sp>
        <p:sp>
          <p:nvSpPr>
            <p:cNvPr id="4" name="TextBox 4"/>
            <p:cNvSpPr txBox="1"/>
            <p:nvPr/>
          </p:nvSpPr>
          <p:spPr>
            <a:xfrm>
              <a:off x="0" y="-28575"/>
              <a:ext cx="1708343" cy="296856"/>
            </a:xfrm>
            <a:prstGeom prst="rect">
              <a:avLst/>
            </a:prstGeom>
          </p:spPr>
          <p:txBody>
            <a:bodyPr lIns="50800" tIns="50800" rIns="50800" bIns="50800" rtlCol="0" anchor="ctr"/>
            <a:lstStyle/>
            <a:p>
              <a:pPr algn="ctr">
                <a:lnSpc>
                  <a:spcPts val="2100"/>
                </a:lnSpc>
              </a:pPr>
              <a:endParaRPr/>
            </a:p>
          </p:txBody>
        </p:sp>
      </p:grpSp>
      <p:grpSp>
        <p:nvGrpSpPr>
          <p:cNvPr id="5" name="Group 5"/>
          <p:cNvGrpSpPr/>
          <p:nvPr/>
        </p:nvGrpSpPr>
        <p:grpSpPr>
          <a:xfrm>
            <a:off x="3310361" y="9681230"/>
            <a:ext cx="15903157" cy="640680"/>
            <a:chOff x="0" y="0"/>
            <a:chExt cx="4188486" cy="168739"/>
          </a:xfrm>
        </p:grpSpPr>
        <p:sp>
          <p:nvSpPr>
            <p:cNvPr id="6" name="Freeform 6"/>
            <p:cNvSpPr/>
            <p:nvPr/>
          </p:nvSpPr>
          <p:spPr>
            <a:xfrm>
              <a:off x="0" y="0"/>
              <a:ext cx="4188486" cy="168739"/>
            </a:xfrm>
            <a:custGeom>
              <a:avLst/>
              <a:gdLst/>
              <a:ahLst/>
              <a:cxnLst/>
              <a:rect l="l" t="t" r="r" b="b"/>
              <a:pathLst>
                <a:path w="4188486" h="168739">
                  <a:moveTo>
                    <a:pt x="203200" y="0"/>
                  </a:moveTo>
                  <a:lnTo>
                    <a:pt x="4188486" y="0"/>
                  </a:lnTo>
                  <a:lnTo>
                    <a:pt x="3985286" y="168739"/>
                  </a:lnTo>
                  <a:lnTo>
                    <a:pt x="0" y="168739"/>
                  </a:lnTo>
                  <a:lnTo>
                    <a:pt x="203200" y="0"/>
                  </a:lnTo>
                  <a:close/>
                </a:path>
              </a:pathLst>
            </a:custGeom>
            <a:solidFill>
              <a:srgbClr val="4A44BD"/>
            </a:solidFill>
          </p:spPr>
        </p:sp>
        <p:sp>
          <p:nvSpPr>
            <p:cNvPr id="7" name="TextBox 7"/>
            <p:cNvSpPr txBox="1"/>
            <p:nvPr/>
          </p:nvSpPr>
          <p:spPr>
            <a:xfrm>
              <a:off x="101600" y="-28575"/>
              <a:ext cx="3985286" cy="197314"/>
            </a:xfrm>
            <a:prstGeom prst="rect">
              <a:avLst/>
            </a:prstGeom>
          </p:spPr>
          <p:txBody>
            <a:bodyPr lIns="50800" tIns="50800" rIns="50800" bIns="50800" rtlCol="0" anchor="ctr"/>
            <a:lstStyle/>
            <a:p>
              <a:pPr algn="ctr">
                <a:lnSpc>
                  <a:spcPts val="2100"/>
                </a:lnSpc>
              </a:pPr>
              <a:endParaRPr/>
            </a:p>
          </p:txBody>
        </p:sp>
      </p:grpSp>
      <p:sp>
        <p:nvSpPr>
          <p:cNvPr id="9" name="TextBox 9"/>
          <p:cNvSpPr txBox="1"/>
          <p:nvPr/>
        </p:nvSpPr>
        <p:spPr>
          <a:xfrm>
            <a:off x="3022819" y="1541690"/>
            <a:ext cx="12242362" cy="819150"/>
          </a:xfrm>
          <a:prstGeom prst="rect">
            <a:avLst/>
          </a:prstGeom>
        </p:spPr>
        <p:txBody>
          <a:bodyPr lIns="0" tIns="0" rIns="0" bIns="0" rtlCol="0" anchor="t">
            <a:spAutoFit/>
          </a:bodyPr>
          <a:lstStyle/>
          <a:p>
            <a:pPr marL="0" lvl="0" indent="0" algn="ctr">
              <a:lnSpc>
                <a:spcPts val="3299"/>
              </a:lnSpc>
            </a:pPr>
            <a:r>
              <a:rPr lang="en-US" sz="2999" b="1" dirty="0">
                <a:solidFill>
                  <a:srgbClr val="4A44BD"/>
                </a:solidFill>
                <a:latin typeface="Garet Bold"/>
                <a:ea typeface="Garet Bold"/>
                <a:cs typeface="Garet Bold"/>
                <a:sym typeface="Garet Bold"/>
              </a:rPr>
              <a:t>Assessing 5G-Impacted Plans for Continuation, Redesign, or Phase-Out</a:t>
            </a:r>
          </a:p>
        </p:txBody>
      </p:sp>
      <p:sp>
        <p:nvSpPr>
          <p:cNvPr id="10" name="TextBox 10"/>
          <p:cNvSpPr txBox="1"/>
          <p:nvPr/>
        </p:nvSpPr>
        <p:spPr>
          <a:xfrm>
            <a:off x="832324" y="2862962"/>
            <a:ext cx="17252209" cy="5325047"/>
          </a:xfrm>
          <a:prstGeom prst="rect">
            <a:avLst/>
          </a:prstGeom>
        </p:spPr>
        <p:txBody>
          <a:bodyPr lIns="0" tIns="0" rIns="0" bIns="0" rtlCol="0" anchor="t">
            <a:spAutoFit/>
          </a:bodyPr>
          <a:lstStyle/>
          <a:p>
            <a:pPr algn="l">
              <a:lnSpc>
                <a:spcPts val="3526"/>
              </a:lnSpc>
            </a:pPr>
            <a:r>
              <a:rPr lang="en-US" sz="1737" b="1" dirty="0">
                <a:solidFill>
                  <a:srgbClr val="000000"/>
                </a:solidFill>
                <a:latin typeface="Open Sauce Bold"/>
                <a:ea typeface="Open Sauce Bold"/>
                <a:cs typeface="Open Sauce Bold"/>
                <a:sym typeface="Open Sauce Bold"/>
              </a:rPr>
              <a:t>Plan Recommended for Discontinuation</a:t>
            </a:r>
          </a:p>
          <a:p>
            <a:pPr marL="375052" lvl="1" indent="-187526" algn="l">
              <a:lnSpc>
                <a:spcPts val="3526"/>
              </a:lnSpc>
              <a:buFont typeface="Arial"/>
              <a:buChar char="•"/>
            </a:pPr>
            <a:r>
              <a:rPr lang="en-US" sz="1737" dirty="0">
                <a:solidFill>
                  <a:srgbClr val="000000"/>
                </a:solidFill>
                <a:latin typeface="Open Sauce"/>
                <a:ea typeface="Open Sauce"/>
                <a:cs typeface="Open Sauce"/>
                <a:sym typeface="Open Sauce"/>
              </a:rPr>
              <a:t> p7 shows the sharpest decline after 5G, with revenue dropping across months compared to the pre-5G period.</a:t>
            </a:r>
          </a:p>
          <a:p>
            <a:pPr marL="375052" lvl="1" indent="-187526" algn="l">
              <a:lnSpc>
                <a:spcPts val="3526"/>
              </a:lnSpc>
              <a:buFont typeface="Arial"/>
              <a:buChar char="•"/>
            </a:pPr>
            <a:r>
              <a:rPr lang="en-US" sz="1737" dirty="0">
                <a:solidFill>
                  <a:srgbClr val="000000"/>
                </a:solidFill>
                <a:latin typeface="Open Sauce"/>
                <a:ea typeface="Open Sauce"/>
                <a:cs typeface="Open Sauce"/>
                <a:sym typeface="Open Sauce"/>
              </a:rPr>
              <a:t> Its monthly trend falls consistently and remains one of the lowest-performing plans post-5G.</a:t>
            </a:r>
          </a:p>
          <a:p>
            <a:pPr algn="l">
              <a:lnSpc>
                <a:spcPts val="3526"/>
              </a:lnSpc>
            </a:pPr>
            <a:r>
              <a:rPr lang="en-US" sz="1737" b="1" dirty="0">
                <a:solidFill>
                  <a:srgbClr val="000000"/>
                </a:solidFill>
                <a:latin typeface="Open Sauce Bold"/>
                <a:ea typeface="Open Sauce Bold"/>
                <a:cs typeface="Open Sauce Bold"/>
                <a:sym typeface="Open Sauce Bold"/>
              </a:rPr>
              <a:t>Plans to Redesign or Reposition</a:t>
            </a:r>
          </a:p>
          <a:p>
            <a:pPr marL="375052" lvl="1" indent="-187526" algn="l">
              <a:lnSpc>
                <a:spcPts val="3526"/>
              </a:lnSpc>
              <a:buFont typeface="Arial"/>
              <a:buChar char="•"/>
            </a:pPr>
            <a:r>
              <a:rPr lang="en-US" sz="1737" dirty="0">
                <a:solidFill>
                  <a:srgbClr val="000000"/>
                </a:solidFill>
                <a:latin typeface="Open Sauce"/>
                <a:ea typeface="Open Sauce"/>
                <a:cs typeface="Open Sauce"/>
                <a:sym typeface="Open Sauce"/>
              </a:rPr>
              <a:t>P4 and p13 show moderate but inconsistent performance, contributing mid-level revenue but failing to show any positive month-over-month growth after 5G.</a:t>
            </a:r>
          </a:p>
          <a:p>
            <a:pPr marL="375052" lvl="1" indent="-187526" algn="l">
              <a:lnSpc>
                <a:spcPts val="3526"/>
              </a:lnSpc>
              <a:buFont typeface="Arial"/>
              <a:buChar char="•"/>
            </a:pPr>
            <a:r>
              <a:rPr lang="en-US" sz="1737" dirty="0">
                <a:solidFill>
                  <a:srgbClr val="000000"/>
                </a:solidFill>
                <a:latin typeface="Open Sauce"/>
                <a:ea typeface="Open Sauce"/>
                <a:cs typeface="Open Sauce"/>
                <a:sym typeface="Open Sauce"/>
              </a:rPr>
              <a:t>These plans retain active users but lack competitiveness compared to higher-performing 5G-friendly plans.</a:t>
            </a:r>
          </a:p>
          <a:p>
            <a:pPr algn="l">
              <a:lnSpc>
                <a:spcPts val="3526"/>
              </a:lnSpc>
            </a:pPr>
            <a:r>
              <a:rPr lang="en-US" sz="1737" b="1" dirty="0">
                <a:solidFill>
                  <a:srgbClr val="000000"/>
                </a:solidFill>
                <a:latin typeface="Open Sauce Bold"/>
                <a:ea typeface="Open Sauce Bold"/>
                <a:cs typeface="Open Sauce Bold"/>
                <a:sym typeface="Open Sauce Bold"/>
              </a:rPr>
              <a:t>Plans to Redesign, Test, and Evaluate (Trial Period</a:t>
            </a:r>
            <a:r>
              <a:rPr lang="en-US" sz="1737" dirty="0">
                <a:solidFill>
                  <a:srgbClr val="000000"/>
                </a:solidFill>
                <a:latin typeface="Open Sauce"/>
                <a:ea typeface="Open Sauce"/>
                <a:cs typeface="Open Sauce"/>
                <a:sym typeface="Open Sauce"/>
              </a:rPr>
              <a:t>)</a:t>
            </a:r>
          </a:p>
          <a:p>
            <a:pPr marL="375052" lvl="1" indent="-187526" algn="l">
              <a:lnSpc>
                <a:spcPts val="3526"/>
              </a:lnSpc>
              <a:buFont typeface="Arial"/>
              <a:buChar char="•"/>
            </a:pPr>
            <a:r>
              <a:rPr lang="en-US" sz="1737" dirty="0">
                <a:solidFill>
                  <a:srgbClr val="000000"/>
                </a:solidFill>
                <a:latin typeface="Open Sauce"/>
                <a:ea typeface="Open Sauce"/>
                <a:cs typeface="Open Sauce"/>
                <a:sym typeface="Open Sauce"/>
              </a:rPr>
              <a:t>p5 and p6 (mid-tier plans) show stable but flat performance, with revenue hovering at the lower-middle range post-5G. Recommend redesigning or repositioning and testing performance for 2–3 months.</a:t>
            </a:r>
          </a:p>
          <a:p>
            <a:pPr marL="375052" lvl="1" indent="-187526" algn="l">
              <a:lnSpc>
                <a:spcPts val="3526"/>
              </a:lnSpc>
              <a:buFont typeface="Arial"/>
              <a:buChar char="•"/>
            </a:pPr>
            <a:r>
              <a:rPr lang="en-US" sz="1737" dirty="0">
                <a:solidFill>
                  <a:srgbClr val="000000"/>
                </a:solidFill>
                <a:latin typeface="Open Sauce"/>
                <a:ea typeface="Open Sauce"/>
                <a:cs typeface="Open Sauce"/>
                <a:sym typeface="Open Sauce"/>
              </a:rPr>
              <a:t>If redesigned versions show positive revenue movement during the test period, they can be continued. If no improvement is seen, these plans should be phased out to avoid portfolio inefficiency.</a:t>
            </a:r>
          </a:p>
          <a:p>
            <a:pPr algn="l">
              <a:lnSpc>
                <a:spcPts val="3526"/>
              </a:lnSpc>
            </a:pPr>
            <a:endParaRPr lang="en-US" sz="1737" dirty="0">
              <a:solidFill>
                <a:srgbClr val="000000"/>
              </a:solidFill>
              <a:latin typeface="Open Sauce"/>
              <a:ea typeface="Open Sauce"/>
              <a:cs typeface="Open Sauce"/>
              <a:sym typeface="Open Sauce"/>
            </a:endParaRPr>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92702" y="9268371"/>
            <a:ext cx="6486365" cy="1018629"/>
            <a:chOff x="0" y="0"/>
            <a:chExt cx="1708343" cy="268281"/>
          </a:xfrm>
        </p:grpSpPr>
        <p:sp>
          <p:nvSpPr>
            <p:cNvPr id="3" name="Freeform 3"/>
            <p:cNvSpPr/>
            <p:nvPr/>
          </p:nvSpPr>
          <p:spPr>
            <a:xfrm>
              <a:off x="0" y="0"/>
              <a:ext cx="1708343" cy="268281"/>
            </a:xfrm>
            <a:custGeom>
              <a:avLst/>
              <a:gdLst/>
              <a:ahLst/>
              <a:cxnLst/>
              <a:rect l="l" t="t" r="r" b="b"/>
              <a:pathLst>
                <a:path w="1708343" h="268281">
                  <a:moveTo>
                    <a:pt x="119357" y="0"/>
                  </a:moveTo>
                  <a:lnTo>
                    <a:pt x="1588986" y="0"/>
                  </a:lnTo>
                  <a:cubicBezTo>
                    <a:pt x="1654905" y="0"/>
                    <a:pt x="1708343" y="53438"/>
                    <a:pt x="1708343" y="119357"/>
                  </a:cubicBezTo>
                  <a:lnTo>
                    <a:pt x="1708343" y="148924"/>
                  </a:lnTo>
                  <a:cubicBezTo>
                    <a:pt x="1708343" y="180580"/>
                    <a:pt x="1695768" y="210938"/>
                    <a:pt x="1673384" y="233322"/>
                  </a:cubicBezTo>
                  <a:cubicBezTo>
                    <a:pt x="1651000" y="255706"/>
                    <a:pt x="1620642" y="268281"/>
                    <a:pt x="1588986" y="268281"/>
                  </a:cubicBezTo>
                  <a:lnTo>
                    <a:pt x="119357" y="268281"/>
                  </a:lnTo>
                  <a:cubicBezTo>
                    <a:pt x="53438" y="268281"/>
                    <a:pt x="0" y="214843"/>
                    <a:pt x="0" y="148924"/>
                  </a:cubicBezTo>
                  <a:lnTo>
                    <a:pt x="0" y="119357"/>
                  </a:lnTo>
                  <a:cubicBezTo>
                    <a:pt x="0" y="53438"/>
                    <a:pt x="53438" y="0"/>
                    <a:pt x="119357" y="0"/>
                  </a:cubicBezTo>
                  <a:close/>
                </a:path>
              </a:pathLst>
            </a:custGeom>
            <a:solidFill>
              <a:srgbClr val="C0E4F6"/>
            </a:solidFill>
          </p:spPr>
        </p:sp>
        <p:sp>
          <p:nvSpPr>
            <p:cNvPr id="4" name="TextBox 4"/>
            <p:cNvSpPr txBox="1"/>
            <p:nvPr/>
          </p:nvSpPr>
          <p:spPr>
            <a:xfrm>
              <a:off x="0" y="-28575"/>
              <a:ext cx="1708343" cy="296856"/>
            </a:xfrm>
            <a:prstGeom prst="rect">
              <a:avLst/>
            </a:prstGeom>
          </p:spPr>
          <p:txBody>
            <a:bodyPr lIns="50800" tIns="50800" rIns="50800" bIns="50800" rtlCol="0" anchor="ctr"/>
            <a:lstStyle/>
            <a:p>
              <a:pPr algn="ctr">
                <a:lnSpc>
                  <a:spcPts val="2100"/>
                </a:lnSpc>
              </a:pPr>
              <a:endParaRPr/>
            </a:p>
          </p:txBody>
        </p:sp>
      </p:grpSp>
      <p:grpSp>
        <p:nvGrpSpPr>
          <p:cNvPr id="5" name="Group 5"/>
          <p:cNvGrpSpPr/>
          <p:nvPr/>
        </p:nvGrpSpPr>
        <p:grpSpPr>
          <a:xfrm>
            <a:off x="3310361" y="9681230"/>
            <a:ext cx="15903157" cy="640680"/>
            <a:chOff x="0" y="0"/>
            <a:chExt cx="4188486" cy="168739"/>
          </a:xfrm>
        </p:grpSpPr>
        <p:sp>
          <p:nvSpPr>
            <p:cNvPr id="6" name="Freeform 6"/>
            <p:cNvSpPr/>
            <p:nvPr/>
          </p:nvSpPr>
          <p:spPr>
            <a:xfrm>
              <a:off x="0" y="0"/>
              <a:ext cx="4188486" cy="168739"/>
            </a:xfrm>
            <a:custGeom>
              <a:avLst/>
              <a:gdLst/>
              <a:ahLst/>
              <a:cxnLst/>
              <a:rect l="l" t="t" r="r" b="b"/>
              <a:pathLst>
                <a:path w="4188486" h="168739">
                  <a:moveTo>
                    <a:pt x="203200" y="0"/>
                  </a:moveTo>
                  <a:lnTo>
                    <a:pt x="4188486" y="0"/>
                  </a:lnTo>
                  <a:lnTo>
                    <a:pt x="3985286" y="168739"/>
                  </a:lnTo>
                  <a:lnTo>
                    <a:pt x="0" y="168739"/>
                  </a:lnTo>
                  <a:lnTo>
                    <a:pt x="203200" y="0"/>
                  </a:lnTo>
                  <a:close/>
                </a:path>
              </a:pathLst>
            </a:custGeom>
            <a:solidFill>
              <a:srgbClr val="4A44BD"/>
            </a:solidFill>
          </p:spPr>
        </p:sp>
        <p:sp>
          <p:nvSpPr>
            <p:cNvPr id="7" name="TextBox 7"/>
            <p:cNvSpPr txBox="1"/>
            <p:nvPr/>
          </p:nvSpPr>
          <p:spPr>
            <a:xfrm>
              <a:off x="101600" y="-28575"/>
              <a:ext cx="3985286" cy="197314"/>
            </a:xfrm>
            <a:prstGeom prst="rect">
              <a:avLst/>
            </a:prstGeom>
          </p:spPr>
          <p:txBody>
            <a:bodyPr lIns="50800" tIns="50800" rIns="50800" bIns="50800" rtlCol="0" anchor="ctr"/>
            <a:lstStyle/>
            <a:p>
              <a:pPr algn="ctr">
                <a:lnSpc>
                  <a:spcPts val="2100"/>
                </a:lnSpc>
              </a:pPr>
              <a:endParaRPr/>
            </a:p>
          </p:txBody>
        </p:sp>
      </p:grpSp>
      <p:sp>
        <p:nvSpPr>
          <p:cNvPr id="8" name="Freeform 8"/>
          <p:cNvSpPr/>
          <p:nvPr/>
        </p:nvSpPr>
        <p:spPr>
          <a:xfrm>
            <a:off x="11874354" y="3067670"/>
            <a:ext cx="6018504" cy="4151660"/>
          </a:xfrm>
          <a:custGeom>
            <a:avLst/>
            <a:gdLst/>
            <a:ahLst/>
            <a:cxnLst/>
            <a:rect l="l" t="t" r="r" b="b"/>
            <a:pathLst>
              <a:path w="6018504" h="4151660">
                <a:moveTo>
                  <a:pt x="0" y="0"/>
                </a:moveTo>
                <a:lnTo>
                  <a:pt x="6018504" y="0"/>
                </a:lnTo>
                <a:lnTo>
                  <a:pt x="6018504" y="4151660"/>
                </a:lnTo>
                <a:lnTo>
                  <a:pt x="0" y="4151660"/>
                </a:lnTo>
                <a:lnTo>
                  <a:pt x="0" y="0"/>
                </a:lnTo>
                <a:close/>
              </a:path>
            </a:pathLst>
          </a:custGeom>
          <a:blipFill>
            <a:blip r:embed="rId3"/>
            <a:stretch>
              <a:fillRect b="-400"/>
            </a:stretch>
          </a:blipFill>
        </p:spPr>
      </p:sp>
      <p:sp>
        <p:nvSpPr>
          <p:cNvPr id="10" name="TextBox 10"/>
          <p:cNvSpPr txBox="1"/>
          <p:nvPr/>
        </p:nvSpPr>
        <p:spPr>
          <a:xfrm>
            <a:off x="3022819" y="1541690"/>
            <a:ext cx="12242362" cy="409575"/>
          </a:xfrm>
          <a:prstGeom prst="rect">
            <a:avLst/>
          </a:prstGeom>
        </p:spPr>
        <p:txBody>
          <a:bodyPr lIns="0" tIns="0" rIns="0" bIns="0" rtlCol="0" anchor="t">
            <a:spAutoFit/>
          </a:bodyPr>
          <a:lstStyle/>
          <a:p>
            <a:pPr marL="0" lvl="0" indent="0" algn="ctr">
              <a:lnSpc>
                <a:spcPts val="3299"/>
              </a:lnSpc>
            </a:pPr>
            <a:r>
              <a:rPr lang="en-US" sz="2999" b="1">
                <a:solidFill>
                  <a:srgbClr val="4A44BD"/>
                </a:solidFill>
                <a:latin typeface="Garet Bold"/>
                <a:ea typeface="Garet Bold"/>
                <a:cs typeface="Garet Bold"/>
                <a:sym typeface="Garet Bold"/>
              </a:rPr>
              <a:t>Plans Discontinued After the 5G Launch</a:t>
            </a:r>
          </a:p>
        </p:txBody>
      </p:sp>
      <p:sp>
        <p:nvSpPr>
          <p:cNvPr id="11" name="TextBox 11"/>
          <p:cNvSpPr txBox="1"/>
          <p:nvPr/>
        </p:nvSpPr>
        <p:spPr>
          <a:xfrm>
            <a:off x="1028700" y="2643485"/>
            <a:ext cx="10477500" cy="4903458"/>
          </a:xfrm>
          <a:prstGeom prst="rect">
            <a:avLst/>
          </a:prstGeom>
        </p:spPr>
        <p:txBody>
          <a:bodyPr wrap="square" lIns="0" tIns="0" rIns="0" bIns="0" rtlCol="0" anchor="t">
            <a:spAutoFit/>
          </a:bodyPr>
          <a:lstStyle/>
          <a:p>
            <a:pPr marL="375203" lvl="1" indent="-187601" algn="l">
              <a:lnSpc>
                <a:spcPts val="3527"/>
              </a:lnSpc>
              <a:buFont typeface="Arial"/>
              <a:buChar char="•"/>
            </a:pPr>
            <a:r>
              <a:rPr lang="en-US" sz="1737" dirty="0">
                <a:solidFill>
                  <a:srgbClr val="000000"/>
                </a:solidFill>
                <a:latin typeface="Open Sauce"/>
                <a:ea typeface="Open Sauce"/>
                <a:cs typeface="Open Sauce"/>
                <a:sym typeface="Open Sauce"/>
              </a:rPr>
              <a:t>Plans p8, p9, and p10 were discontinued post-5G, as they show near-zero monthly revenue and minimal user activity in the dashboard.</a:t>
            </a:r>
          </a:p>
          <a:p>
            <a:pPr marL="375203" lvl="1" indent="-187601" algn="l">
              <a:lnSpc>
                <a:spcPts val="3527"/>
              </a:lnSpc>
              <a:buFont typeface="Arial"/>
              <a:buChar char="•"/>
            </a:pPr>
            <a:r>
              <a:rPr lang="en-US" sz="1737" dirty="0">
                <a:solidFill>
                  <a:srgbClr val="000000"/>
                </a:solidFill>
                <a:latin typeface="Open Sauce"/>
                <a:ea typeface="Open Sauce"/>
                <a:cs typeface="Open Sauce"/>
                <a:sym typeface="Open Sauce"/>
              </a:rPr>
              <a:t>These plans contribute less than 5% to total plan revenue after 5G, indicating very limited adoption.</a:t>
            </a:r>
          </a:p>
          <a:p>
            <a:pPr marL="375203" lvl="1" indent="-187601" algn="l">
              <a:lnSpc>
                <a:spcPts val="3527"/>
              </a:lnSpc>
              <a:buFont typeface="Arial"/>
              <a:buChar char="•"/>
            </a:pPr>
            <a:r>
              <a:rPr lang="en-US" sz="1737" dirty="0">
                <a:solidFill>
                  <a:srgbClr val="000000"/>
                </a:solidFill>
                <a:latin typeface="Open Sauce"/>
                <a:ea typeface="Open Sauce"/>
                <a:cs typeface="Open Sauce"/>
                <a:sym typeface="Open Sauce"/>
              </a:rPr>
              <a:t>p8, p9, and p10 were probably built for 4G usage patterns, offering lower data benefits and outdated pricing structures.</a:t>
            </a:r>
          </a:p>
          <a:p>
            <a:pPr marL="375203" lvl="1" indent="-187601" algn="l">
              <a:lnSpc>
                <a:spcPts val="3527"/>
              </a:lnSpc>
              <a:buFont typeface="Arial"/>
              <a:buChar char="•"/>
            </a:pPr>
            <a:r>
              <a:rPr lang="en-US" sz="1737" dirty="0">
                <a:solidFill>
                  <a:srgbClr val="000000"/>
                </a:solidFill>
                <a:latin typeface="Open Sauce"/>
                <a:ea typeface="Open Sauce"/>
                <a:cs typeface="Open Sauce"/>
                <a:sym typeface="Open Sauce"/>
              </a:rPr>
              <a:t>Their features did not align with 5G customer requirements, resulting in rapid customer migration toward higher-value 5G-friendly plans.</a:t>
            </a:r>
          </a:p>
          <a:p>
            <a:pPr marL="386462" lvl="1" indent="-193231" algn="l">
              <a:lnSpc>
                <a:spcPts val="3633"/>
              </a:lnSpc>
              <a:buFont typeface="Arial"/>
              <a:buChar char="•"/>
            </a:pPr>
            <a:r>
              <a:rPr lang="en-US" sz="1740" dirty="0">
                <a:solidFill>
                  <a:srgbClr val="000000"/>
                </a:solidFill>
                <a:latin typeface="Open Sauce"/>
                <a:ea typeface="Open Sauce"/>
                <a:cs typeface="Open Sauce"/>
                <a:sym typeface="Open Sauce"/>
              </a:rPr>
              <a:t>Due to consistently low performance, these plans became operationally irrelevant, making discontinuation the most appropriate decision.</a:t>
            </a:r>
          </a:p>
          <a:p>
            <a:pPr algn="l">
              <a:lnSpc>
                <a:spcPts val="3527"/>
              </a:lnSpc>
            </a:pPr>
            <a:endParaRPr lang="en-US" sz="1790" dirty="0">
              <a:solidFill>
                <a:srgbClr val="000000"/>
              </a:solidFill>
              <a:latin typeface="Open Sauce"/>
              <a:ea typeface="Open Sauce"/>
              <a:cs typeface="Open Sauce"/>
              <a:sym typeface="Open Sauce"/>
            </a:endParaRPr>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92702" y="9268371"/>
            <a:ext cx="6486365" cy="1018629"/>
            <a:chOff x="0" y="0"/>
            <a:chExt cx="1708343" cy="268281"/>
          </a:xfrm>
        </p:grpSpPr>
        <p:sp>
          <p:nvSpPr>
            <p:cNvPr id="3" name="Freeform 3"/>
            <p:cNvSpPr/>
            <p:nvPr/>
          </p:nvSpPr>
          <p:spPr>
            <a:xfrm>
              <a:off x="0" y="0"/>
              <a:ext cx="1708343" cy="268281"/>
            </a:xfrm>
            <a:custGeom>
              <a:avLst/>
              <a:gdLst/>
              <a:ahLst/>
              <a:cxnLst/>
              <a:rect l="l" t="t" r="r" b="b"/>
              <a:pathLst>
                <a:path w="1708343" h="268281">
                  <a:moveTo>
                    <a:pt x="119357" y="0"/>
                  </a:moveTo>
                  <a:lnTo>
                    <a:pt x="1588986" y="0"/>
                  </a:lnTo>
                  <a:cubicBezTo>
                    <a:pt x="1654905" y="0"/>
                    <a:pt x="1708343" y="53438"/>
                    <a:pt x="1708343" y="119357"/>
                  </a:cubicBezTo>
                  <a:lnTo>
                    <a:pt x="1708343" y="148924"/>
                  </a:lnTo>
                  <a:cubicBezTo>
                    <a:pt x="1708343" y="180580"/>
                    <a:pt x="1695768" y="210938"/>
                    <a:pt x="1673384" y="233322"/>
                  </a:cubicBezTo>
                  <a:cubicBezTo>
                    <a:pt x="1651000" y="255706"/>
                    <a:pt x="1620642" y="268281"/>
                    <a:pt x="1588986" y="268281"/>
                  </a:cubicBezTo>
                  <a:lnTo>
                    <a:pt x="119357" y="268281"/>
                  </a:lnTo>
                  <a:cubicBezTo>
                    <a:pt x="53438" y="268281"/>
                    <a:pt x="0" y="214843"/>
                    <a:pt x="0" y="148924"/>
                  </a:cubicBezTo>
                  <a:lnTo>
                    <a:pt x="0" y="119357"/>
                  </a:lnTo>
                  <a:cubicBezTo>
                    <a:pt x="0" y="53438"/>
                    <a:pt x="53438" y="0"/>
                    <a:pt x="119357" y="0"/>
                  </a:cubicBezTo>
                  <a:close/>
                </a:path>
              </a:pathLst>
            </a:custGeom>
            <a:solidFill>
              <a:srgbClr val="C0E4F6"/>
            </a:solidFill>
          </p:spPr>
        </p:sp>
        <p:sp>
          <p:nvSpPr>
            <p:cNvPr id="4" name="TextBox 4"/>
            <p:cNvSpPr txBox="1"/>
            <p:nvPr/>
          </p:nvSpPr>
          <p:spPr>
            <a:xfrm>
              <a:off x="0" y="-28575"/>
              <a:ext cx="1708343" cy="296856"/>
            </a:xfrm>
            <a:prstGeom prst="rect">
              <a:avLst/>
            </a:prstGeom>
          </p:spPr>
          <p:txBody>
            <a:bodyPr lIns="50800" tIns="50800" rIns="50800" bIns="50800" rtlCol="0" anchor="ctr"/>
            <a:lstStyle/>
            <a:p>
              <a:pPr algn="ctr">
                <a:lnSpc>
                  <a:spcPts val="2100"/>
                </a:lnSpc>
              </a:pPr>
              <a:endParaRPr/>
            </a:p>
          </p:txBody>
        </p:sp>
      </p:grpSp>
      <p:grpSp>
        <p:nvGrpSpPr>
          <p:cNvPr id="5" name="Group 5"/>
          <p:cNvGrpSpPr/>
          <p:nvPr/>
        </p:nvGrpSpPr>
        <p:grpSpPr>
          <a:xfrm>
            <a:off x="3310361" y="9681230"/>
            <a:ext cx="15903157" cy="640680"/>
            <a:chOff x="0" y="0"/>
            <a:chExt cx="4188486" cy="168739"/>
          </a:xfrm>
        </p:grpSpPr>
        <p:sp>
          <p:nvSpPr>
            <p:cNvPr id="6" name="Freeform 6"/>
            <p:cNvSpPr/>
            <p:nvPr/>
          </p:nvSpPr>
          <p:spPr>
            <a:xfrm>
              <a:off x="0" y="0"/>
              <a:ext cx="4188486" cy="168739"/>
            </a:xfrm>
            <a:custGeom>
              <a:avLst/>
              <a:gdLst/>
              <a:ahLst/>
              <a:cxnLst/>
              <a:rect l="l" t="t" r="r" b="b"/>
              <a:pathLst>
                <a:path w="4188486" h="168739">
                  <a:moveTo>
                    <a:pt x="203200" y="0"/>
                  </a:moveTo>
                  <a:lnTo>
                    <a:pt x="4188486" y="0"/>
                  </a:lnTo>
                  <a:lnTo>
                    <a:pt x="3985286" y="168739"/>
                  </a:lnTo>
                  <a:lnTo>
                    <a:pt x="0" y="168739"/>
                  </a:lnTo>
                  <a:lnTo>
                    <a:pt x="203200" y="0"/>
                  </a:lnTo>
                  <a:close/>
                </a:path>
              </a:pathLst>
            </a:custGeom>
            <a:solidFill>
              <a:srgbClr val="4A44BD"/>
            </a:solidFill>
          </p:spPr>
        </p:sp>
        <p:sp>
          <p:nvSpPr>
            <p:cNvPr id="7" name="TextBox 7"/>
            <p:cNvSpPr txBox="1"/>
            <p:nvPr/>
          </p:nvSpPr>
          <p:spPr>
            <a:xfrm>
              <a:off x="101600" y="-28575"/>
              <a:ext cx="3985286" cy="197314"/>
            </a:xfrm>
            <a:prstGeom prst="rect">
              <a:avLst/>
            </a:prstGeom>
          </p:spPr>
          <p:txBody>
            <a:bodyPr lIns="50800" tIns="50800" rIns="50800" bIns="50800" rtlCol="0" anchor="ctr"/>
            <a:lstStyle/>
            <a:p>
              <a:pPr algn="ctr">
                <a:lnSpc>
                  <a:spcPts val="2100"/>
                </a:lnSpc>
              </a:pPr>
              <a:endParaRPr/>
            </a:p>
          </p:txBody>
        </p:sp>
      </p:grpSp>
      <p:sp>
        <p:nvSpPr>
          <p:cNvPr id="8" name="TextBox 8"/>
          <p:cNvSpPr txBox="1"/>
          <p:nvPr/>
        </p:nvSpPr>
        <p:spPr>
          <a:xfrm>
            <a:off x="1270394" y="2642786"/>
            <a:ext cx="10798502" cy="4765535"/>
          </a:xfrm>
          <a:prstGeom prst="rect">
            <a:avLst/>
          </a:prstGeom>
        </p:spPr>
        <p:txBody>
          <a:bodyPr lIns="0" tIns="0" rIns="0" bIns="0" rtlCol="0" anchor="t">
            <a:spAutoFit/>
          </a:bodyPr>
          <a:lstStyle/>
          <a:p>
            <a:pPr marL="385924" lvl="1" indent="-192962" algn="l">
              <a:lnSpc>
                <a:spcPts val="4182"/>
              </a:lnSpc>
              <a:buFont typeface="Arial"/>
              <a:buChar char="•"/>
            </a:pPr>
            <a:r>
              <a:rPr lang="en-US" sz="1787" dirty="0">
                <a:solidFill>
                  <a:srgbClr val="000000"/>
                </a:solidFill>
                <a:latin typeface="Open Sauce"/>
                <a:ea typeface="Open Sauce"/>
                <a:cs typeface="Open Sauce"/>
                <a:sym typeface="Open Sauce"/>
              </a:rPr>
              <a:t>Revenue slightly declined (–0.50%) after the 5G rollout, indicating the launch did not translate into immediate revenue uplift.</a:t>
            </a:r>
          </a:p>
          <a:p>
            <a:pPr marL="385924" lvl="1" indent="-192962" algn="l">
              <a:lnSpc>
                <a:spcPts val="4182"/>
              </a:lnSpc>
              <a:buFont typeface="Arial"/>
              <a:buChar char="•"/>
            </a:pPr>
            <a:r>
              <a:rPr lang="en-US" sz="1787" dirty="0">
                <a:solidFill>
                  <a:srgbClr val="000000"/>
                </a:solidFill>
                <a:latin typeface="Open Sauce"/>
                <a:ea typeface="Open Sauce"/>
                <a:cs typeface="Open Sauce"/>
                <a:sym typeface="Open Sauce"/>
              </a:rPr>
              <a:t>ARPU increased significantly (+11.05%), showing customers are willing to spend more on higher-value 5G plans.</a:t>
            </a:r>
          </a:p>
          <a:p>
            <a:pPr marL="385924" lvl="1" indent="-192962" algn="l">
              <a:lnSpc>
                <a:spcPts val="4182"/>
              </a:lnSpc>
              <a:buFont typeface="Arial"/>
              <a:buChar char="•"/>
            </a:pPr>
            <a:r>
              <a:rPr lang="en-US" sz="1787" dirty="0">
                <a:solidFill>
                  <a:srgbClr val="000000"/>
                </a:solidFill>
                <a:latin typeface="Open Sauce"/>
                <a:ea typeface="Open Sauce"/>
                <a:cs typeface="Open Sauce"/>
                <a:sym typeface="Open Sauce"/>
              </a:rPr>
              <a:t>Total Active Users declined (–8.28%), revealing reduced engagement and possible customer migration to competitors.</a:t>
            </a:r>
          </a:p>
          <a:p>
            <a:pPr marL="385924" lvl="1" indent="-192962" algn="l">
              <a:lnSpc>
                <a:spcPts val="4182"/>
              </a:lnSpc>
              <a:buFont typeface="Arial"/>
              <a:buChar char="•"/>
            </a:pPr>
            <a:r>
              <a:rPr lang="en-US" sz="1787" dirty="0">
                <a:solidFill>
                  <a:srgbClr val="000000"/>
                </a:solidFill>
                <a:latin typeface="Open Sauce"/>
                <a:ea typeface="Open Sauce"/>
                <a:cs typeface="Open Sauce"/>
                <a:sym typeface="Open Sauce"/>
              </a:rPr>
              <a:t>Churn surged sharply post-5G (+23.50%), signaling dissatisfaction in key markets and highlighting retention risks.</a:t>
            </a:r>
          </a:p>
          <a:p>
            <a:pPr algn="l">
              <a:lnSpc>
                <a:spcPts val="4182"/>
              </a:lnSpc>
            </a:pPr>
            <a:endParaRPr lang="en-US" sz="1787" dirty="0">
              <a:solidFill>
                <a:srgbClr val="000000"/>
              </a:solidFill>
              <a:latin typeface="Open Sauce"/>
              <a:ea typeface="Open Sauce"/>
              <a:cs typeface="Open Sauce"/>
              <a:sym typeface="Open Sauce"/>
            </a:endParaRPr>
          </a:p>
        </p:txBody>
      </p:sp>
      <p:sp>
        <p:nvSpPr>
          <p:cNvPr id="9" name="Freeform 9"/>
          <p:cNvSpPr/>
          <p:nvPr/>
        </p:nvSpPr>
        <p:spPr>
          <a:xfrm>
            <a:off x="12558505" y="2833286"/>
            <a:ext cx="4189882" cy="4414627"/>
          </a:xfrm>
          <a:custGeom>
            <a:avLst/>
            <a:gdLst/>
            <a:ahLst/>
            <a:cxnLst/>
            <a:rect l="l" t="t" r="r" b="b"/>
            <a:pathLst>
              <a:path w="4189882" h="4414627">
                <a:moveTo>
                  <a:pt x="0" y="0"/>
                </a:moveTo>
                <a:lnTo>
                  <a:pt x="4189882" y="0"/>
                </a:lnTo>
                <a:lnTo>
                  <a:pt x="4189882" y="4414627"/>
                </a:lnTo>
                <a:lnTo>
                  <a:pt x="0" y="441462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1" name="TextBox 11"/>
          <p:cNvSpPr txBox="1"/>
          <p:nvPr/>
        </p:nvSpPr>
        <p:spPr>
          <a:xfrm>
            <a:off x="3022819" y="1843631"/>
            <a:ext cx="12242362" cy="409575"/>
          </a:xfrm>
          <a:prstGeom prst="rect">
            <a:avLst/>
          </a:prstGeom>
        </p:spPr>
        <p:txBody>
          <a:bodyPr lIns="0" tIns="0" rIns="0" bIns="0" rtlCol="0" anchor="t">
            <a:spAutoFit/>
          </a:bodyPr>
          <a:lstStyle/>
          <a:p>
            <a:pPr marL="0" lvl="0" indent="0" algn="ctr">
              <a:lnSpc>
                <a:spcPts val="3299"/>
              </a:lnSpc>
            </a:pPr>
            <a:r>
              <a:rPr lang="en-US" sz="2999" b="1" dirty="0">
                <a:solidFill>
                  <a:srgbClr val="4A44BD"/>
                </a:solidFill>
                <a:latin typeface="Garet Bold"/>
                <a:ea typeface="Garet Bold"/>
                <a:cs typeface="Garet Bold"/>
                <a:sym typeface="Garet Bold"/>
              </a:rPr>
              <a:t>Insights Summary</a:t>
            </a:r>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92702" y="9268371"/>
            <a:ext cx="6486365" cy="1018629"/>
            <a:chOff x="0" y="0"/>
            <a:chExt cx="1708343" cy="268281"/>
          </a:xfrm>
        </p:grpSpPr>
        <p:sp>
          <p:nvSpPr>
            <p:cNvPr id="3" name="Freeform 3"/>
            <p:cNvSpPr/>
            <p:nvPr/>
          </p:nvSpPr>
          <p:spPr>
            <a:xfrm>
              <a:off x="0" y="0"/>
              <a:ext cx="1708343" cy="268281"/>
            </a:xfrm>
            <a:custGeom>
              <a:avLst/>
              <a:gdLst/>
              <a:ahLst/>
              <a:cxnLst/>
              <a:rect l="l" t="t" r="r" b="b"/>
              <a:pathLst>
                <a:path w="1708343" h="268281">
                  <a:moveTo>
                    <a:pt x="119357" y="0"/>
                  </a:moveTo>
                  <a:lnTo>
                    <a:pt x="1588986" y="0"/>
                  </a:lnTo>
                  <a:cubicBezTo>
                    <a:pt x="1654905" y="0"/>
                    <a:pt x="1708343" y="53438"/>
                    <a:pt x="1708343" y="119357"/>
                  </a:cubicBezTo>
                  <a:lnTo>
                    <a:pt x="1708343" y="148924"/>
                  </a:lnTo>
                  <a:cubicBezTo>
                    <a:pt x="1708343" y="180580"/>
                    <a:pt x="1695768" y="210938"/>
                    <a:pt x="1673384" y="233322"/>
                  </a:cubicBezTo>
                  <a:cubicBezTo>
                    <a:pt x="1651000" y="255706"/>
                    <a:pt x="1620642" y="268281"/>
                    <a:pt x="1588986" y="268281"/>
                  </a:cubicBezTo>
                  <a:lnTo>
                    <a:pt x="119357" y="268281"/>
                  </a:lnTo>
                  <a:cubicBezTo>
                    <a:pt x="53438" y="268281"/>
                    <a:pt x="0" y="214843"/>
                    <a:pt x="0" y="148924"/>
                  </a:cubicBezTo>
                  <a:lnTo>
                    <a:pt x="0" y="119357"/>
                  </a:lnTo>
                  <a:cubicBezTo>
                    <a:pt x="0" y="53438"/>
                    <a:pt x="53438" y="0"/>
                    <a:pt x="119357" y="0"/>
                  </a:cubicBezTo>
                  <a:close/>
                </a:path>
              </a:pathLst>
            </a:custGeom>
            <a:solidFill>
              <a:srgbClr val="C0E4F6"/>
            </a:solidFill>
          </p:spPr>
        </p:sp>
        <p:sp>
          <p:nvSpPr>
            <p:cNvPr id="4" name="TextBox 4"/>
            <p:cNvSpPr txBox="1"/>
            <p:nvPr/>
          </p:nvSpPr>
          <p:spPr>
            <a:xfrm>
              <a:off x="0" y="-28575"/>
              <a:ext cx="1708343" cy="296856"/>
            </a:xfrm>
            <a:prstGeom prst="rect">
              <a:avLst/>
            </a:prstGeom>
          </p:spPr>
          <p:txBody>
            <a:bodyPr lIns="50800" tIns="50800" rIns="50800" bIns="50800" rtlCol="0" anchor="ctr"/>
            <a:lstStyle/>
            <a:p>
              <a:pPr algn="ctr">
                <a:lnSpc>
                  <a:spcPts val="2100"/>
                </a:lnSpc>
              </a:pPr>
              <a:endParaRPr/>
            </a:p>
          </p:txBody>
        </p:sp>
      </p:grpSp>
      <p:grpSp>
        <p:nvGrpSpPr>
          <p:cNvPr id="5" name="Group 5"/>
          <p:cNvGrpSpPr/>
          <p:nvPr/>
        </p:nvGrpSpPr>
        <p:grpSpPr>
          <a:xfrm>
            <a:off x="3310361" y="9681230"/>
            <a:ext cx="15903157" cy="640680"/>
            <a:chOff x="0" y="0"/>
            <a:chExt cx="4188486" cy="168739"/>
          </a:xfrm>
        </p:grpSpPr>
        <p:sp>
          <p:nvSpPr>
            <p:cNvPr id="6" name="Freeform 6"/>
            <p:cNvSpPr/>
            <p:nvPr/>
          </p:nvSpPr>
          <p:spPr>
            <a:xfrm>
              <a:off x="0" y="0"/>
              <a:ext cx="4188486" cy="168739"/>
            </a:xfrm>
            <a:custGeom>
              <a:avLst/>
              <a:gdLst/>
              <a:ahLst/>
              <a:cxnLst/>
              <a:rect l="l" t="t" r="r" b="b"/>
              <a:pathLst>
                <a:path w="4188486" h="168739">
                  <a:moveTo>
                    <a:pt x="203200" y="0"/>
                  </a:moveTo>
                  <a:lnTo>
                    <a:pt x="4188486" y="0"/>
                  </a:lnTo>
                  <a:lnTo>
                    <a:pt x="3985286" y="168739"/>
                  </a:lnTo>
                  <a:lnTo>
                    <a:pt x="0" y="168739"/>
                  </a:lnTo>
                  <a:lnTo>
                    <a:pt x="203200" y="0"/>
                  </a:lnTo>
                  <a:close/>
                </a:path>
              </a:pathLst>
            </a:custGeom>
            <a:solidFill>
              <a:srgbClr val="4A44BD"/>
            </a:solidFill>
          </p:spPr>
        </p:sp>
        <p:sp>
          <p:nvSpPr>
            <p:cNvPr id="7" name="TextBox 7"/>
            <p:cNvSpPr txBox="1"/>
            <p:nvPr/>
          </p:nvSpPr>
          <p:spPr>
            <a:xfrm>
              <a:off x="101600" y="-28575"/>
              <a:ext cx="3985286" cy="197314"/>
            </a:xfrm>
            <a:prstGeom prst="rect">
              <a:avLst/>
            </a:prstGeom>
          </p:spPr>
          <p:txBody>
            <a:bodyPr lIns="50800" tIns="50800" rIns="50800" bIns="50800" rtlCol="0" anchor="ctr"/>
            <a:lstStyle/>
            <a:p>
              <a:pPr algn="ctr">
                <a:lnSpc>
                  <a:spcPts val="2100"/>
                </a:lnSpc>
              </a:pPr>
              <a:endParaRPr/>
            </a:p>
          </p:txBody>
        </p:sp>
      </p:grpSp>
      <p:sp>
        <p:nvSpPr>
          <p:cNvPr id="8" name="TextBox 8"/>
          <p:cNvSpPr txBox="1"/>
          <p:nvPr/>
        </p:nvSpPr>
        <p:spPr>
          <a:xfrm>
            <a:off x="1270394" y="2642786"/>
            <a:ext cx="10540606" cy="5842753"/>
          </a:xfrm>
          <a:prstGeom prst="rect">
            <a:avLst/>
          </a:prstGeom>
        </p:spPr>
        <p:txBody>
          <a:bodyPr wrap="square" lIns="0" tIns="0" rIns="0" bIns="0" rtlCol="0" anchor="t">
            <a:spAutoFit/>
          </a:bodyPr>
          <a:lstStyle/>
          <a:p>
            <a:pPr marL="385924" lvl="1" indent="-192962" algn="l">
              <a:lnSpc>
                <a:spcPts val="4182"/>
              </a:lnSpc>
              <a:buFont typeface="Arial"/>
              <a:buChar char="•"/>
            </a:pPr>
            <a:r>
              <a:rPr lang="en-US" sz="1787" dirty="0">
                <a:solidFill>
                  <a:srgbClr val="000000"/>
                </a:solidFill>
                <a:latin typeface="Open Sauce"/>
                <a:ea typeface="Open Sauce"/>
                <a:cs typeface="Open Sauce"/>
                <a:sym typeface="Open Sauce"/>
              </a:rPr>
              <a:t>Helps identify the key drivers of churn and user decline, enabling targeted retention actions that can reduce churn by 5–10%.</a:t>
            </a:r>
          </a:p>
          <a:p>
            <a:pPr marL="385924" lvl="1" indent="-192962" algn="l">
              <a:lnSpc>
                <a:spcPts val="4182"/>
              </a:lnSpc>
              <a:buFont typeface="Arial"/>
              <a:buChar char="•"/>
            </a:pPr>
            <a:r>
              <a:rPr lang="en-US" sz="1787" dirty="0">
                <a:solidFill>
                  <a:srgbClr val="000000"/>
                </a:solidFill>
                <a:latin typeface="Open Sauce"/>
                <a:ea typeface="Open Sauce"/>
                <a:cs typeface="Open Sauce"/>
                <a:sym typeface="Open Sauce"/>
              </a:rPr>
              <a:t>Highlights high-potential cities and customer segments, allowing smarter resource allocation that can boost revenue by 2–4%.</a:t>
            </a:r>
          </a:p>
          <a:p>
            <a:pPr marL="385924" lvl="1" indent="-192962" algn="l">
              <a:lnSpc>
                <a:spcPts val="4182"/>
              </a:lnSpc>
              <a:buFont typeface="Arial"/>
              <a:buChar char="•"/>
            </a:pPr>
            <a:r>
              <a:rPr lang="en-US" sz="1787" dirty="0">
                <a:solidFill>
                  <a:srgbClr val="000000"/>
                </a:solidFill>
                <a:latin typeface="Open Sauce"/>
                <a:ea typeface="Open Sauce"/>
                <a:cs typeface="Open Sauce"/>
                <a:sym typeface="Open Sauce"/>
              </a:rPr>
              <a:t>Supports redesign of mid-performing plans, improving product alignment and potentially increasing plan adoption by 10–15%.</a:t>
            </a:r>
          </a:p>
          <a:p>
            <a:pPr marL="385924" lvl="1" indent="-192962" algn="l">
              <a:lnSpc>
                <a:spcPts val="4182"/>
              </a:lnSpc>
              <a:buFont typeface="Arial"/>
              <a:buChar char="•"/>
            </a:pPr>
            <a:r>
              <a:rPr lang="en-US" sz="1787" dirty="0">
                <a:solidFill>
                  <a:srgbClr val="000000"/>
                </a:solidFill>
                <a:latin typeface="Open Sauce"/>
                <a:ea typeface="Open Sauce"/>
                <a:cs typeface="Open Sauce"/>
                <a:sym typeface="Open Sauce"/>
              </a:rPr>
              <a:t>Provides insights to refine premium offerings, helping leverage ARPU growth and increase ARPU by an additional 5%.</a:t>
            </a:r>
          </a:p>
          <a:p>
            <a:pPr marL="385924" lvl="1" indent="-192962" algn="l">
              <a:lnSpc>
                <a:spcPts val="4182"/>
              </a:lnSpc>
              <a:buFont typeface="Arial"/>
              <a:buChar char="•"/>
            </a:pPr>
            <a:r>
              <a:rPr lang="en-US" sz="1787" dirty="0">
                <a:solidFill>
                  <a:srgbClr val="000000"/>
                </a:solidFill>
                <a:latin typeface="Open Sauce"/>
                <a:ea typeface="Open Sauce"/>
                <a:cs typeface="Open Sauce"/>
                <a:sym typeface="Open Sauce"/>
              </a:rPr>
              <a:t>Improves strategic forecasting and decision-making, enabling timely actions that can enhance overall 5G performance and customer satisfaction.</a:t>
            </a:r>
          </a:p>
          <a:p>
            <a:pPr algn="l">
              <a:lnSpc>
                <a:spcPts val="4182"/>
              </a:lnSpc>
            </a:pPr>
            <a:endParaRPr lang="en-US" sz="1787" dirty="0">
              <a:solidFill>
                <a:srgbClr val="000000"/>
              </a:solidFill>
              <a:latin typeface="Open Sauce"/>
              <a:ea typeface="Open Sauce"/>
              <a:cs typeface="Open Sauce"/>
              <a:sym typeface="Open Sauce"/>
            </a:endParaRPr>
          </a:p>
        </p:txBody>
      </p:sp>
      <p:sp>
        <p:nvSpPr>
          <p:cNvPr id="9" name="Freeform 9"/>
          <p:cNvSpPr/>
          <p:nvPr/>
        </p:nvSpPr>
        <p:spPr>
          <a:xfrm>
            <a:off x="12558505" y="2833286"/>
            <a:ext cx="4189882" cy="4414627"/>
          </a:xfrm>
          <a:custGeom>
            <a:avLst/>
            <a:gdLst/>
            <a:ahLst/>
            <a:cxnLst/>
            <a:rect l="l" t="t" r="r" b="b"/>
            <a:pathLst>
              <a:path w="4189882" h="4414627">
                <a:moveTo>
                  <a:pt x="0" y="0"/>
                </a:moveTo>
                <a:lnTo>
                  <a:pt x="4189882" y="0"/>
                </a:lnTo>
                <a:lnTo>
                  <a:pt x="4189882" y="4414627"/>
                </a:lnTo>
                <a:lnTo>
                  <a:pt x="0" y="441462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1" name="TextBox 11"/>
          <p:cNvSpPr txBox="1"/>
          <p:nvPr/>
        </p:nvSpPr>
        <p:spPr>
          <a:xfrm>
            <a:off x="3022819" y="1843631"/>
            <a:ext cx="12242362" cy="409575"/>
          </a:xfrm>
          <a:prstGeom prst="rect">
            <a:avLst/>
          </a:prstGeom>
        </p:spPr>
        <p:txBody>
          <a:bodyPr lIns="0" tIns="0" rIns="0" bIns="0" rtlCol="0" anchor="t">
            <a:spAutoFit/>
          </a:bodyPr>
          <a:lstStyle/>
          <a:p>
            <a:pPr marL="0" lvl="0" indent="0" algn="ctr">
              <a:lnSpc>
                <a:spcPts val="3299"/>
              </a:lnSpc>
            </a:pPr>
            <a:r>
              <a:rPr lang="en-US" sz="2999" b="1" dirty="0">
                <a:solidFill>
                  <a:srgbClr val="4A44BD"/>
                </a:solidFill>
                <a:latin typeface="Garet Bold"/>
                <a:ea typeface="Garet Bold"/>
                <a:cs typeface="Garet Bold"/>
                <a:sym typeface="Garet Bold"/>
              </a:rPr>
              <a:t>How This Analysis Enables Strategic Improvement</a:t>
            </a:r>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92702" y="9268371"/>
            <a:ext cx="6486365" cy="1018629"/>
            <a:chOff x="0" y="0"/>
            <a:chExt cx="1708343" cy="268281"/>
          </a:xfrm>
        </p:grpSpPr>
        <p:sp>
          <p:nvSpPr>
            <p:cNvPr id="3" name="Freeform 3"/>
            <p:cNvSpPr/>
            <p:nvPr/>
          </p:nvSpPr>
          <p:spPr>
            <a:xfrm>
              <a:off x="0" y="0"/>
              <a:ext cx="1708343" cy="268281"/>
            </a:xfrm>
            <a:custGeom>
              <a:avLst/>
              <a:gdLst/>
              <a:ahLst/>
              <a:cxnLst/>
              <a:rect l="l" t="t" r="r" b="b"/>
              <a:pathLst>
                <a:path w="1708343" h="268281">
                  <a:moveTo>
                    <a:pt x="119357" y="0"/>
                  </a:moveTo>
                  <a:lnTo>
                    <a:pt x="1588986" y="0"/>
                  </a:lnTo>
                  <a:cubicBezTo>
                    <a:pt x="1654905" y="0"/>
                    <a:pt x="1708343" y="53438"/>
                    <a:pt x="1708343" y="119357"/>
                  </a:cubicBezTo>
                  <a:lnTo>
                    <a:pt x="1708343" y="148924"/>
                  </a:lnTo>
                  <a:cubicBezTo>
                    <a:pt x="1708343" y="180580"/>
                    <a:pt x="1695768" y="210938"/>
                    <a:pt x="1673384" y="233322"/>
                  </a:cubicBezTo>
                  <a:cubicBezTo>
                    <a:pt x="1651000" y="255706"/>
                    <a:pt x="1620642" y="268281"/>
                    <a:pt x="1588986" y="268281"/>
                  </a:cubicBezTo>
                  <a:lnTo>
                    <a:pt x="119357" y="268281"/>
                  </a:lnTo>
                  <a:cubicBezTo>
                    <a:pt x="53438" y="268281"/>
                    <a:pt x="0" y="214843"/>
                    <a:pt x="0" y="148924"/>
                  </a:cubicBezTo>
                  <a:lnTo>
                    <a:pt x="0" y="119357"/>
                  </a:lnTo>
                  <a:cubicBezTo>
                    <a:pt x="0" y="53438"/>
                    <a:pt x="53438" y="0"/>
                    <a:pt x="119357" y="0"/>
                  </a:cubicBezTo>
                  <a:close/>
                </a:path>
              </a:pathLst>
            </a:custGeom>
            <a:solidFill>
              <a:srgbClr val="C0E4F6"/>
            </a:solidFill>
          </p:spPr>
        </p:sp>
        <p:sp>
          <p:nvSpPr>
            <p:cNvPr id="4" name="TextBox 4"/>
            <p:cNvSpPr txBox="1"/>
            <p:nvPr/>
          </p:nvSpPr>
          <p:spPr>
            <a:xfrm>
              <a:off x="0" y="-28575"/>
              <a:ext cx="1708343" cy="296856"/>
            </a:xfrm>
            <a:prstGeom prst="rect">
              <a:avLst/>
            </a:prstGeom>
          </p:spPr>
          <p:txBody>
            <a:bodyPr lIns="50800" tIns="50800" rIns="50800" bIns="50800" rtlCol="0" anchor="ctr"/>
            <a:lstStyle/>
            <a:p>
              <a:pPr algn="ctr">
                <a:lnSpc>
                  <a:spcPts val="2100"/>
                </a:lnSpc>
              </a:pPr>
              <a:endParaRPr/>
            </a:p>
          </p:txBody>
        </p:sp>
      </p:grpSp>
      <p:grpSp>
        <p:nvGrpSpPr>
          <p:cNvPr id="5" name="Group 5"/>
          <p:cNvGrpSpPr/>
          <p:nvPr/>
        </p:nvGrpSpPr>
        <p:grpSpPr>
          <a:xfrm>
            <a:off x="3310361" y="9681230"/>
            <a:ext cx="15903157" cy="640680"/>
            <a:chOff x="0" y="0"/>
            <a:chExt cx="4188486" cy="168739"/>
          </a:xfrm>
        </p:grpSpPr>
        <p:sp>
          <p:nvSpPr>
            <p:cNvPr id="6" name="Freeform 6"/>
            <p:cNvSpPr/>
            <p:nvPr/>
          </p:nvSpPr>
          <p:spPr>
            <a:xfrm>
              <a:off x="0" y="0"/>
              <a:ext cx="4188486" cy="168739"/>
            </a:xfrm>
            <a:custGeom>
              <a:avLst/>
              <a:gdLst/>
              <a:ahLst/>
              <a:cxnLst/>
              <a:rect l="l" t="t" r="r" b="b"/>
              <a:pathLst>
                <a:path w="4188486" h="168739">
                  <a:moveTo>
                    <a:pt x="203200" y="0"/>
                  </a:moveTo>
                  <a:lnTo>
                    <a:pt x="4188486" y="0"/>
                  </a:lnTo>
                  <a:lnTo>
                    <a:pt x="3985286" y="168739"/>
                  </a:lnTo>
                  <a:lnTo>
                    <a:pt x="0" y="168739"/>
                  </a:lnTo>
                  <a:lnTo>
                    <a:pt x="203200" y="0"/>
                  </a:lnTo>
                  <a:close/>
                </a:path>
              </a:pathLst>
            </a:custGeom>
            <a:solidFill>
              <a:srgbClr val="4A44BD"/>
            </a:solidFill>
          </p:spPr>
        </p:sp>
        <p:sp>
          <p:nvSpPr>
            <p:cNvPr id="7" name="TextBox 7"/>
            <p:cNvSpPr txBox="1"/>
            <p:nvPr/>
          </p:nvSpPr>
          <p:spPr>
            <a:xfrm>
              <a:off x="101600" y="-28575"/>
              <a:ext cx="3985286" cy="197314"/>
            </a:xfrm>
            <a:prstGeom prst="rect">
              <a:avLst/>
            </a:prstGeom>
          </p:spPr>
          <p:txBody>
            <a:bodyPr lIns="50800" tIns="50800" rIns="50800" bIns="50800" rtlCol="0" anchor="ctr"/>
            <a:lstStyle/>
            <a:p>
              <a:pPr algn="ctr">
                <a:lnSpc>
                  <a:spcPts val="2100"/>
                </a:lnSpc>
              </a:pPr>
              <a:endParaRPr/>
            </a:p>
          </p:txBody>
        </p:sp>
      </p:grpSp>
      <p:sp>
        <p:nvSpPr>
          <p:cNvPr id="9" name="TextBox 9"/>
          <p:cNvSpPr txBox="1"/>
          <p:nvPr/>
        </p:nvSpPr>
        <p:spPr>
          <a:xfrm>
            <a:off x="1028700" y="2563796"/>
            <a:ext cx="16230600" cy="857250"/>
          </a:xfrm>
          <a:prstGeom prst="rect">
            <a:avLst/>
          </a:prstGeom>
        </p:spPr>
        <p:txBody>
          <a:bodyPr lIns="0" tIns="0" rIns="0" bIns="0" rtlCol="0" anchor="t">
            <a:spAutoFit/>
          </a:bodyPr>
          <a:lstStyle/>
          <a:p>
            <a:pPr marL="0" lvl="0" indent="0" algn="ctr">
              <a:lnSpc>
                <a:spcPts val="6600"/>
              </a:lnSpc>
            </a:pPr>
            <a:r>
              <a:rPr lang="en-US" sz="6000" b="1" spc="-120" dirty="0">
                <a:solidFill>
                  <a:srgbClr val="4A44BD"/>
                </a:solidFill>
                <a:latin typeface="Garet Bold"/>
                <a:ea typeface="Garet Bold"/>
                <a:cs typeface="Garet Bold"/>
                <a:sym typeface="Garet Bold"/>
              </a:rPr>
              <a:t>Recommendations</a:t>
            </a:r>
          </a:p>
        </p:txBody>
      </p:sp>
      <p:grpSp>
        <p:nvGrpSpPr>
          <p:cNvPr id="10" name="Group 10"/>
          <p:cNvGrpSpPr/>
          <p:nvPr/>
        </p:nvGrpSpPr>
        <p:grpSpPr>
          <a:xfrm>
            <a:off x="1315857" y="4053573"/>
            <a:ext cx="15656286" cy="4960054"/>
            <a:chOff x="0" y="19050"/>
            <a:chExt cx="20875048" cy="6613405"/>
          </a:xfrm>
        </p:grpSpPr>
        <p:sp>
          <p:nvSpPr>
            <p:cNvPr id="11" name="TextBox 11"/>
            <p:cNvSpPr txBox="1"/>
            <p:nvPr/>
          </p:nvSpPr>
          <p:spPr>
            <a:xfrm>
              <a:off x="0" y="454267"/>
              <a:ext cx="20875048" cy="6178188"/>
            </a:xfrm>
            <a:prstGeom prst="rect">
              <a:avLst/>
            </a:prstGeom>
          </p:spPr>
          <p:txBody>
            <a:bodyPr lIns="0" tIns="0" rIns="0" bIns="0" rtlCol="0" anchor="t">
              <a:spAutoFit/>
            </a:bodyPr>
            <a:lstStyle/>
            <a:p>
              <a:pPr marL="453390" lvl="1" indent="-226695" algn="l">
                <a:lnSpc>
                  <a:spcPts val="4641"/>
                </a:lnSpc>
                <a:buFont typeface="Arial"/>
                <a:buChar char="•"/>
              </a:pPr>
              <a:r>
                <a:rPr lang="en-US" sz="2100" dirty="0">
                  <a:solidFill>
                    <a:srgbClr val="000000"/>
                  </a:solidFill>
                  <a:latin typeface="Open Sauce"/>
                  <a:ea typeface="Open Sauce"/>
                  <a:cs typeface="Open Sauce"/>
                  <a:sym typeface="Open Sauce"/>
                </a:rPr>
                <a:t>Strengthen customer retention programs to reduce rising churn, focusing on high-churn cities, especially Lucknow and Pune.</a:t>
              </a:r>
            </a:p>
            <a:p>
              <a:pPr marL="453390" lvl="1" indent="-226695" algn="l">
                <a:lnSpc>
                  <a:spcPts val="4641"/>
                </a:lnSpc>
                <a:buFont typeface="Arial"/>
                <a:buChar char="•"/>
              </a:pPr>
              <a:r>
                <a:rPr lang="en-US" sz="2100" dirty="0">
                  <a:solidFill>
                    <a:srgbClr val="000000"/>
                  </a:solidFill>
                  <a:latin typeface="Open Sauce"/>
                  <a:ea typeface="Open Sauce"/>
                  <a:cs typeface="Open Sauce"/>
                  <a:sym typeface="Open Sauce"/>
                </a:rPr>
                <a:t>Redesign and relaunch mid-performing plans (p4, p5, p12, p13) to better align with 5G usage patterns and customer expectations.</a:t>
              </a:r>
            </a:p>
            <a:p>
              <a:pPr marL="453390" lvl="1" indent="-226695" algn="l">
                <a:lnSpc>
                  <a:spcPts val="4641"/>
                </a:lnSpc>
                <a:buFont typeface="Arial"/>
                <a:buChar char="•"/>
              </a:pPr>
              <a:r>
                <a:rPr lang="en-US" sz="2100" dirty="0">
                  <a:solidFill>
                    <a:srgbClr val="000000"/>
                  </a:solidFill>
                  <a:latin typeface="Open Sauce"/>
                  <a:ea typeface="Open Sauce"/>
                  <a:cs typeface="Open Sauce"/>
                  <a:sym typeface="Open Sauce"/>
                </a:rPr>
                <a:t>Invest in top-performing cities to maximize revenue growth and reinforce market leadership.</a:t>
              </a:r>
            </a:p>
            <a:p>
              <a:pPr marL="453390" lvl="1" indent="-226695" algn="l">
                <a:lnSpc>
                  <a:spcPts val="4641"/>
                </a:lnSpc>
                <a:buFont typeface="Arial"/>
                <a:buChar char="•"/>
              </a:pPr>
              <a:r>
                <a:rPr lang="en-US" sz="2100" dirty="0">
                  <a:solidFill>
                    <a:srgbClr val="000000"/>
                  </a:solidFill>
                  <a:latin typeface="Open Sauce"/>
                  <a:ea typeface="Open Sauce"/>
                  <a:cs typeface="Open Sauce"/>
                  <a:sym typeface="Open Sauce"/>
                </a:rPr>
                <a:t>Improve network quality and customer experience in underperforming cities to boost active users and reduce customer migration.</a:t>
              </a:r>
            </a:p>
            <a:p>
              <a:pPr algn="l">
                <a:lnSpc>
                  <a:spcPts val="4641"/>
                </a:lnSpc>
              </a:pPr>
              <a:endParaRPr lang="en-US" sz="2100" dirty="0">
                <a:solidFill>
                  <a:srgbClr val="000000"/>
                </a:solidFill>
                <a:latin typeface="Open Sauce"/>
                <a:ea typeface="Open Sauce"/>
                <a:cs typeface="Open Sauce"/>
                <a:sym typeface="Open Sauce"/>
              </a:endParaRPr>
            </a:p>
          </p:txBody>
        </p:sp>
        <p:sp>
          <p:nvSpPr>
            <p:cNvPr id="12" name="AutoShape 12"/>
            <p:cNvSpPr/>
            <p:nvPr/>
          </p:nvSpPr>
          <p:spPr>
            <a:xfrm>
              <a:off x="0" y="19050"/>
              <a:ext cx="1316667" cy="0"/>
            </a:xfrm>
            <a:prstGeom prst="line">
              <a:avLst/>
            </a:prstGeom>
            <a:ln w="38100" cap="flat">
              <a:solidFill>
                <a:srgbClr val="C0E4F6"/>
              </a:solidFill>
              <a:prstDash val="solid"/>
              <a:headEnd type="none" w="sm" len="sm"/>
              <a:tailEnd type="none" w="sm" len="sm"/>
            </a:ln>
          </p:spPr>
        </p:sp>
      </p:gr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0800000">
            <a:off x="15610348" y="0"/>
            <a:ext cx="5355305" cy="2677652"/>
          </a:xfrm>
          <a:custGeom>
            <a:avLst/>
            <a:gdLst/>
            <a:ahLst/>
            <a:cxnLst/>
            <a:rect l="l" t="t" r="r" b="b"/>
            <a:pathLst>
              <a:path w="5355305" h="2677652">
                <a:moveTo>
                  <a:pt x="0" y="0"/>
                </a:moveTo>
                <a:lnTo>
                  <a:pt x="5355304" y="0"/>
                </a:lnTo>
                <a:lnTo>
                  <a:pt x="5355304" y="2677652"/>
                </a:lnTo>
                <a:lnTo>
                  <a:pt x="0" y="267765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3" name="Group 3"/>
          <p:cNvGrpSpPr/>
          <p:nvPr/>
        </p:nvGrpSpPr>
        <p:grpSpPr>
          <a:xfrm>
            <a:off x="3310361" y="9681230"/>
            <a:ext cx="15903157" cy="640680"/>
            <a:chOff x="0" y="0"/>
            <a:chExt cx="4188486" cy="168739"/>
          </a:xfrm>
        </p:grpSpPr>
        <p:sp>
          <p:nvSpPr>
            <p:cNvPr id="4" name="Freeform 4"/>
            <p:cNvSpPr/>
            <p:nvPr/>
          </p:nvSpPr>
          <p:spPr>
            <a:xfrm>
              <a:off x="0" y="0"/>
              <a:ext cx="4188486" cy="168739"/>
            </a:xfrm>
            <a:custGeom>
              <a:avLst/>
              <a:gdLst/>
              <a:ahLst/>
              <a:cxnLst/>
              <a:rect l="l" t="t" r="r" b="b"/>
              <a:pathLst>
                <a:path w="4188486" h="168739">
                  <a:moveTo>
                    <a:pt x="203200" y="0"/>
                  </a:moveTo>
                  <a:lnTo>
                    <a:pt x="4188486" y="0"/>
                  </a:lnTo>
                  <a:lnTo>
                    <a:pt x="3985286" y="168739"/>
                  </a:lnTo>
                  <a:lnTo>
                    <a:pt x="0" y="168739"/>
                  </a:lnTo>
                  <a:lnTo>
                    <a:pt x="203200" y="0"/>
                  </a:lnTo>
                  <a:close/>
                </a:path>
              </a:pathLst>
            </a:custGeom>
            <a:solidFill>
              <a:srgbClr val="4A44BD"/>
            </a:solidFill>
          </p:spPr>
        </p:sp>
        <p:sp>
          <p:nvSpPr>
            <p:cNvPr id="5" name="TextBox 5"/>
            <p:cNvSpPr txBox="1"/>
            <p:nvPr/>
          </p:nvSpPr>
          <p:spPr>
            <a:xfrm>
              <a:off x="101600" y="-28575"/>
              <a:ext cx="3985286" cy="197314"/>
            </a:xfrm>
            <a:prstGeom prst="rect">
              <a:avLst/>
            </a:prstGeom>
          </p:spPr>
          <p:txBody>
            <a:bodyPr lIns="50800" tIns="50800" rIns="50800" bIns="50800" rtlCol="0" anchor="ctr"/>
            <a:lstStyle/>
            <a:p>
              <a:pPr algn="ctr">
                <a:lnSpc>
                  <a:spcPts val="2100"/>
                </a:lnSpc>
              </a:pPr>
              <a:endParaRPr/>
            </a:p>
          </p:txBody>
        </p:sp>
      </p:grpSp>
      <p:grpSp>
        <p:nvGrpSpPr>
          <p:cNvPr id="6" name="Group 6"/>
          <p:cNvGrpSpPr/>
          <p:nvPr/>
        </p:nvGrpSpPr>
        <p:grpSpPr>
          <a:xfrm>
            <a:off x="5879533" y="3821786"/>
            <a:ext cx="6528935" cy="1800166"/>
            <a:chOff x="0" y="0"/>
            <a:chExt cx="8705247" cy="2400221"/>
          </a:xfrm>
        </p:grpSpPr>
        <p:sp>
          <p:nvSpPr>
            <p:cNvPr id="7" name="TextBox 7"/>
            <p:cNvSpPr txBox="1"/>
            <p:nvPr/>
          </p:nvSpPr>
          <p:spPr>
            <a:xfrm>
              <a:off x="0" y="76200"/>
              <a:ext cx="8705247" cy="1447800"/>
            </a:xfrm>
            <a:prstGeom prst="rect">
              <a:avLst/>
            </a:prstGeom>
          </p:spPr>
          <p:txBody>
            <a:bodyPr lIns="0" tIns="0" rIns="0" bIns="0" rtlCol="0" anchor="t">
              <a:spAutoFit/>
            </a:bodyPr>
            <a:lstStyle/>
            <a:p>
              <a:pPr marL="0" lvl="0" indent="0" algn="ctr">
                <a:lnSpc>
                  <a:spcPts val="8250"/>
                </a:lnSpc>
              </a:pPr>
              <a:r>
                <a:rPr lang="en-US" sz="7500" b="1" spc="-150">
                  <a:solidFill>
                    <a:srgbClr val="4A44BD"/>
                  </a:solidFill>
                  <a:latin typeface="Garet Bold"/>
                  <a:ea typeface="Garet Bold"/>
                  <a:cs typeface="Garet Bold"/>
                  <a:sym typeface="Garet Bold"/>
                </a:rPr>
                <a:t>Thank You</a:t>
              </a:r>
            </a:p>
          </p:txBody>
        </p:sp>
        <p:sp>
          <p:nvSpPr>
            <p:cNvPr id="8" name="TextBox 8"/>
            <p:cNvSpPr txBox="1"/>
            <p:nvPr/>
          </p:nvSpPr>
          <p:spPr>
            <a:xfrm>
              <a:off x="0" y="1853063"/>
              <a:ext cx="8705247" cy="547158"/>
            </a:xfrm>
            <a:prstGeom prst="rect">
              <a:avLst/>
            </a:prstGeom>
          </p:spPr>
          <p:txBody>
            <a:bodyPr lIns="0" tIns="0" rIns="0" bIns="0" rtlCol="0" anchor="t">
              <a:spAutoFit/>
            </a:bodyPr>
            <a:lstStyle/>
            <a:p>
              <a:pPr algn="ctr">
                <a:lnSpc>
                  <a:spcPts val="3499"/>
                </a:lnSpc>
              </a:pPr>
              <a:endParaRPr/>
            </a:p>
          </p:txBody>
        </p:sp>
      </p:grpSp>
      <p:pic>
        <p:nvPicPr>
          <p:cNvPr id="9" name="Picture 9"/>
          <p:cNvPicPr>
            <a:picLocks noChangeAspect="1"/>
          </p:cNvPicPr>
          <p:nvPr/>
        </p:nvPicPr>
        <p:blipFill>
          <a:blip r:embed="rId5">
            <a:alphaModFix amt="8999"/>
          </a:blip>
          <a:stretch>
            <a:fillRect/>
          </a:stretch>
        </p:blipFill>
        <p:spPr>
          <a:xfrm>
            <a:off x="-1862165" y="144174"/>
            <a:ext cx="22345982" cy="12004991"/>
          </a:xfrm>
          <a:prstGeom prst="rect">
            <a:avLst/>
          </a:prstGeom>
        </p:spPr>
      </p:pic>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3"/>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70</TotalTime>
  <Words>1192</Words>
  <Application>Microsoft Office PowerPoint</Application>
  <PresentationFormat>Custom</PresentationFormat>
  <Paragraphs>97</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Calibri</vt:lpstr>
      <vt:lpstr>Open Sauce Bold</vt:lpstr>
      <vt:lpstr>Arial</vt:lpstr>
      <vt:lpstr>Open Sauce</vt:lpstr>
      <vt:lpstr>Garet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Wavecon Telecom – 5G Impact Analysis</dc:title>
  <cp:lastModifiedBy>Saranya Kp</cp:lastModifiedBy>
  <cp:revision>6</cp:revision>
  <dcterms:created xsi:type="dcterms:W3CDTF">2006-08-16T00:00:00Z</dcterms:created>
  <dcterms:modified xsi:type="dcterms:W3CDTF">2025-12-05T10:26:49Z</dcterms:modified>
  <dc:identifier>DAG6idS_hFU</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C61089D9-B500-471B-ADE9-FD2BB6E0CE4C</vt:lpwstr>
  </property>
  <property fmtid="{D5CDD505-2E9C-101B-9397-08002B2CF9AE}" pid="3" name="ArticulatePath">
    <vt:lpwstr>Wavecon Telecom – 5G Impact Analysis</vt:lpwstr>
  </property>
</Properties>
</file>